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5acacb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5acacb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55db317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55db31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latter of which are extracted from existing metagenomes, enabling higher taxonomic resolution and more accurate quantification of species when profiling new microbial communities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55db3174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55db317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a) Schematic illustration of the mOTUs concept (Methods).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b) The observed richness of ref-mOTUs (containing exclusively MG sequences from reference genomes; blue) and meta-mOTUs (containing only MG sequences from metagenomes; green) per biome,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c) mean cumulative relative abundance of species profiled across 2481 metagenomic samples.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d) Correspondence between mOTUs and 19,302 metagenome assembled genomes (MAGs) from the human gut. While less than 3% of MAGs are not represented (dark grey bar), mOTUs allow for profiling of 900 species not captured by MAGs.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bdd5d9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4bdd5d9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mOTUs tool performs taxonomic profiling of metagenomics and metatrancriptomics samples, i.e. it identifies species and their relative abundance present in a sample. It is based on a set of mOTUs (~species) contained in the mOTUs database. The mOTUs database is created from reference genomes, metagenomic samples and metagenome assembled genomes (MAGs).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mOTUs database is composed of three types of mOTUs: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ref-mOTUs, which represent known species,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meta-mOTUs, which represent unknown species obtained from metagenomic samples,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ext-mOTUs, which represent unknown species obtained from MAGs.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Note that meta- and ext-mOTUs will not have a species level annotation.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5db3174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55db317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Input Data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INPUT: fastq files</a:t>
            </a:r>
            <a:r>
              <a:rPr lang="en">
                <a:solidFill>
                  <a:schemeClr val="dk1"/>
                </a:solidFill>
              </a:rPr>
              <a:t> (Green Box)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is the raw data input.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sample1.fastq</a:t>
            </a:r>
            <a:r>
              <a:rPr lang="en">
                <a:solidFill>
                  <a:schemeClr val="dk1"/>
                </a:solidFill>
              </a:rPr>
              <a:t> is shown as having both forward (</a:t>
            </a:r>
            <a:r>
              <a:rPr b="1" lang="en">
                <a:solidFill>
                  <a:schemeClr val="dk1"/>
                </a:solidFill>
              </a:rPr>
              <a:t>for</a:t>
            </a:r>
            <a:r>
              <a:rPr lang="en">
                <a:solidFill>
                  <a:schemeClr val="dk1"/>
                </a:solidFill>
              </a:rPr>
              <a:t>) and reverse (</a:t>
            </a:r>
            <a:r>
              <a:rPr b="1" lang="en">
                <a:solidFill>
                  <a:schemeClr val="dk1"/>
                </a:solidFill>
              </a:rPr>
              <a:t>rev</a:t>
            </a:r>
            <a:r>
              <a:rPr lang="en">
                <a:solidFill>
                  <a:schemeClr val="dk1"/>
                </a:solidFill>
              </a:rPr>
              <a:t>) reads, indicating it's </a:t>
            </a:r>
            <a:r>
              <a:rPr b="1" lang="en">
                <a:solidFill>
                  <a:schemeClr val="dk1"/>
                </a:solidFill>
              </a:rPr>
              <a:t>paired-end</a:t>
            </a:r>
            <a:r>
              <a:rPr lang="en">
                <a:solidFill>
                  <a:schemeClr val="dk1"/>
                </a:solidFill>
              </a:rPr>
              <a:t> sequencing data.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sample2.fastq</a:t>
            </a:r>
            <a:r>
              <a:rPr lang="en">
                <a:solidFill>
                  <a:schemeClr val="dk1"/>
                </a:solidFill>
              </a:rPr>
              <a:t> is shown as having forward (</a:t>
            </a:r>
            <a:r>
              <a:rPr b="1" lang="en">
                <a:solidFill>
                  <a:schemeClr val="dk1"/>
                </a:solidFill>
              </a:rPr>
              <a:t>for</a:t>
            </a:r>
            <a:r>
              <a:rPr lang="en">
                <a:solidFill>
                  <a:schemeClr val="dk1"/>
                </a:solidFill>
              </a:rPr>
              <a:t>), reverse (</a:t>
            </a:r>
            <a:r>
              <a:rPr b="1" lang="en">
                <a:solidFill>
                  <a:schemeClr val="dk1"/>
                </a:solidFill>
              </a:rPr>
              <a:t>rev</a:t>
            </a:r>
            <a:r>
              <a:rPr lang="en">
                <a:solidFill>
                  <a:schemeClr val="dk1"/>
                </a:solidFill>
              </a:rPr>
              <a:t>), and </a:t>
            </a:r>
            <a:r>
              <a:rPr b="1" lang="en">
                <a:solidFill>
                  <a:schemeClr val="dk1"/>
                </a:solidFill>
              </a:rPr>
              <a:t>single</a:t>
            </a:r>
            <a:r>
              <a:rPr lang="en">
                <a:solidFill>
                  <a:schemeClr val="dk1"/>
                </a:solidFill>
              </a:rPr>
              <a:t> reads, suggesting a mix or separate handling of paired and orphaned reads.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Taxonomic Profiling (Blue Shaded Area)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process aims to determine the microbial composition (the taxonomy) of the samples.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Profile Step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It takes the raw fastq files as input.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connections show command-line arguments: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-f</a:t>
            </a:r>
            <a:r>
              <a:rPr lang="en">
                <a:solidFill>
                  <a:schemeClr val="dk1"/>
                </a:solidFill>
              </a:rPr>
              <a:t> (forward reads)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-r</a:t>
            </a:r>
            <a:r>
              <a:rPr lang="en">
                <a:solidFill>
                  <a:schemeClr val="dk1"/>
                </a:solidFill>
              </a:rPr>
              <a:t> (reverse reads) from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sample1.fastq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sample2.fastq</a:t>
            </a:r>
            <a:r>
              <a:rPr lang="en">
                <a:solidFill>
                  <a:schemeClr val="dk1"/>
                </a:solidFill>
              </a:rPr>
              <a:t> go into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profile</a:t>
            </a:r>
            <a:r>
              <a:rPr lang="en">
                <a:solidFill>
                  <a:schemeClr val="dk1"/>
                </a:solidFill>
              </a:rPr>
              <a:t> step.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output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-o</a:t>
            </a:r>
            <a:r>
              <a:rPr lang="en">
                <a:solidFill>
                  <a:schemeClr val="dk1"/>
                </a:solidFill>
              </a:rPr>
              <a:t>) for each sample is a </a:t>
            </a:r>
            <a:r>
              <a:rPr b="1" lang="en">
                <a:solidFill>
                  <a:schemeClr val="dk1"/>
                </a:solidFill>
              </a:rPr>
              <a:t>.motu</a:t>
            </a:r>
            <a:r>
              <a:rPr lang="en">
                <a:solidFill>
                  <a:schemeClr val="dk1"/>
                </a:solidFill>
              </a:rPr>
              <a:t> file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s1.motu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s2.motu</a:t>
            </a:r>
            <a:r>
              <a:rPr lang="en">
                <a:solidFill>
                  <a:schemeClr val="dk1"/>
                </a:solidFill>
              </a:rPr>
              <a:t>), which likely contains the relative abundance or counts of </a:t>
            </a:r>
            <a:r>
              <a:rPr b="1" lang="en">
                <a:solidFill>
                  <a:schemeClr val="dk1"/>
                </a:solidFill>
              </a:rPr>
              <a:t>mOTUs</a:t>
            </a:r>
            <a:r>
              <a:rPr lang="en">
                <a:solidFill>
                  <a:schemeClr val="dk1"/>
                </a:solidFill>
              </a:rPr>
              <a:t> (Metagenomic Operational Taxonomic Units) for that specific sample.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blue folder with a dashed arrow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-d</a:t>
            </a:r>
            <a:r>
              <a:rPr lang="en">
                <a:solidFill>
                  <a:schemeClr val="dk1"/>
                </a:solidFill>
              </a:rPr>
              <a:t> (directory) indicates that the raw output files might also be stored in an intermediate directory.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Merge Step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merge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It takes the individual sample output files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s1.motu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s2.motu</a:t>
            </a:r>
            <a:r>
              <a:rPr lang="en">
                <a:solidFill>
                  <a:schemeClr val="dk1"/>
                </a:solidFill>
              </a:rPr>
              <a:t>) as input, indicated by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-i</a:t>
            </a:r>
            <a:r>
              <a:rPr lang="en">
                <a:solidFill>
                  <a:schemeClr val="dk1"/>
                </a:solidFill>
              </a:rPr>
              <a:t> (input) argument.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step combines the individual profiles into a single, comprehensive table.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final output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-o</a:t>
            </a:r>
            <a:r>
              <a:rPr lang="en">
                <a:solidFill>
                  <a:schemeClr val="dk1"/>
                </a:solidFill>
              </a:rPr>
              <a:t>) is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all_samples.motu</a:t>
            </a:r>
            <a:r>
              <a:rPr lang="en">
                <a:solidFill>
                  <a:schemeClr val="dk1"/>
                </a:solidFill>
              </a:rPr>
              <a:t>, which is displayed as a table showing mOTU relative abundances across all samples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mOTU_1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mOTU_2</a:t>
            </a:r>
            <a:r>
              <a:rPr lang="en">
                <a:solidFill>
                  <a:schemeClr val="dk1"/>
                </a:solidFill>
              </a:rPr>
              <a:t>, etc. with values for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sample1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sample2</a:t>
            </a:r>
            <a:r>
              <a:rPr lang="en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SNV Calling (Red Shaded Area)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process aims to identify single nucleotide variants in the microbial community genomes.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SNV Mapping Step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map_snv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It also takes the raw fastq files as input.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sample2.fastq</a:t>
            </a:r>
            <a:r>
              <a:rPr lang="en">
                <a:solidFill>
                  <a:schemeClr val="dk1"/>
                </a:solidFill>
              </a:rPr>
              <a:t>, it uses the forward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-f</a:t>
            </a:r>
            <a:r>
              <a:rPr lang="en">
                <a:solidFill>
                  <a:schemeClr val="dk1"/>
                </a:solidFill>
              </a:rPr>
              <a:t>), reverse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-r</a:t>
            </a:r>
            <a:r>
              <a:rPr lang="en">
                <a:solidFill>
                  <a:schemeClr val="dk1"/>
                </a:solidFill>
              </a:rPr>
              <a:t>), and single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-s</a:t>
            </a:r>
            <a:r>
              <a:rPr lang="en">
                <a:solidFill>
                  <a:schemeClr val="dk1"/>
                </a:solidFill>
              </a:rPr>
              <a:t>) reads.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process maps the reads to a reference genome/database (implied).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output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-o</a:t>
            </a:r>
            <a:r>
              <a:rPr lang="en">
                <a:solidFill>
                  <a:schemeClr val="dk1"/>
                </a:solidFill>
              </a:rPr>
              <a:t>) for each sample is a </a:t>
            </a:r>
            <a:r>
              <a:rPr b="1" lang="en">
                <a:solidFill>
                  <a:schemeClr val="dk1"/>
                </a:solidFill>
              </a:rPr>
              <a:t>.bam</a:t>
            </a:r>
            <a:r>
              <a:rPr lang="en">
                <a:solidFill>
                  <a:schemeClr val="dk1"/>
                </a:solidFill>
              </a:rPr>
              <a:t> file (e.g.,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s1.bam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s2.bam</a:t>
            </a:r>
            <a:r>
              <a:rPr lang="en">
                <a:solidFill>
                  <a:schemeClr val="dk1"/>
                </a:solidFill>
              </a:rPr>
              <a:t>). A BAM file is the binary, compressed version of a SAM (Sequence Alignment/Map) file, which contains the aligned reads.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red folder with dashed arrows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-d</a:t>
            </a:r>
            <a:r>
              <a:rPr lang="en">
                <a:solidFill>
                  <a:schemeClr val="dk1"/>
                </a:solidFill>
              </a:rPr>
              <a:t> indicates intermediate storage of alignment files.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SNV Calling Step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SNV_call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It takes the alignment files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s1.bam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s2.bam</a:t>
            </a:r>
            <a:r>
              <a:rPr lang="en">
                <a:solidFill>
                  <a:schemeClr val="dk1"/>
                </a:solidFill>
              </a:rPr>
              <a:t>) as input.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It uses the alignment information to identify locations where the sequenced reads differ from the reference genome, thereby calling variants (SNVs).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output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-o</a:t>
            </a:r>
            <a:r>
              <a:rPr lang="en">
                <a:solidFill>
                  <a:schemeClr val="dk1"/>
                </a:solidFill>
              </a:rPr>
              <a:t>) is stored in a folder named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SNV_profiles</a:t>
            </a:r>
            <a:r>
              <a:rPr lang="en">
                <a:solidFill>
                  <a:schemeClr val="dk1"/>
                </a:solidFill>
              </a:rPr>
              <a:t>, which contains the results of the variant calling, likely including position, reference base, variant base, and frequency/depth information for each identified SNV.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acacb6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acacb6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acacb6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acacb6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acacb66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acacb66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5bb06c5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5bb06c5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b06c5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5bb06c5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bb06c5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5bb06c5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resulting profile reports the relative abundance for each mOTU (ref + meta + ext)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bb06c59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bb06c59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Adds up to around 0.78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bb06c59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5bb06c59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-c flag changes the output from relative abundance to number of assigned reads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bb06c59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5bb06c59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-k flag changes taxonomic level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bb06c59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5bb06c59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bb06c59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5bb06c59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abundance, count, </a:t>
            </a:r>
            <a:r>
              <a:rPr lang="en"/>
              <a:t>taxonomic</a:t>
            </a:r>
            <a:r>
              <a:rPr lang="en"/>
              <a:t> level - phylum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5bb06c59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5bb06c5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5acacb6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5acacb6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5acacb66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5acacb66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5acacb66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5acacb66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5bb06c59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5bb06c59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1038/s41467-019-08844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Metagenomic Profiling Using mOTUs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8575"/>
            <a:ext cx="31293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1700"/>
              <a:t>Andrew Reid and Asylzhan Almukhamet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797175"/>
            <a:ext cx="56919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 Installation &amp; Analysis of Unmapped Reads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Project Goal </a:t>
            </a:r>
            <a:endParaRPr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Our project had three main goals: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Profile microbial composition</a:t>
            </a:r>
            <a:r>
              <a:rPr lang="en" sz="2000">
                <a:solidFill>
                  <a:schemeClr val="dk1"/>
                </a:solidFill>
              </a:rPr>
              <a:t> using paired-end FASTQ files.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Use mOTUs v3 locally</a:t>
            </a:r>
            <a:r>
              <a:rPr lang="en" sz="2000">
                <a:solidFill>
                  <a:schemeClr val="dk1"/>
                </a:solidFill>
              </a:rPr>
              <a:t>, since it can detect organisms other tools miss.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Generate and interpret species-level abundance tables</a:t>
            </a:r>
            <a:r>
              <a:rPr lang="en" sz="2000">
                <a:solidFill>
                  <a:schemeClr val="dk1"/>
                </a:solidFill>
              </a:rPr>
              <a:t> from unmapped reads.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What is mOTUs</a:t>
            </a:r>
            <a:endParaRPr sz="30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m</a:t>
            </a:r>
            <a:r>
              <a:rPr lang="en" sz="2000">
                <a:solidFill>
                  <a:schemeClr val="dk1"/>
                </a:solidFill>
              </a:rPr>
              <a:t>arker gene (MG)-based </a:t>
            </a:r>
            <a:r>
              <a:rPr b="1" lang="en" sz="2000">
                <a:solidFill>
                  <a:schemeClr val="dk1"/>
                </a:solidFill>
              </a:rPr>
              <a:t>o</a:t>
            </a:r>
            <a:r>
              <a:rPr lang="en" sz="2000">
                <a:solidFill>
                  <a:schemeClr val="dk1"/>
                </a:solidFill>
              </a:rPr>
              <a:t>perational </a:t>
            </a:r>
            <a:r>
              <a:rPr b="1" lang="en" sz="2000">
                <a:solidFill>
                  <a:schemeClr val="dk1"/>
                </a:solidFill>
              </a:rPr>
              <a:t>t</a:t>
            </a:r>
            <a:r>
              <a:rPr lang="en" sz="2000">
                <a:solidFill>
                  <a:schemeClr val="dk1"/>
                </a:solidFill>
              </a:rPr>
              <a:t>axonomic </a:t>
            </a:r>
            <a:r>
              <a:rPr b="1" lang="en" sz="2000">
                <a:solidFill>
                  <a:schemeClr val="dk1"/>
                </a:solidFill>
              </a:rPr>
              <a:t>u</a:t>
            </a:r>
            <a:r>
              <a:rPr lang="en" sz="2000">
                <a:solidFill>
                  <a:schemeClr val="dk1"/>
                </a:solidFill>
              </a:rPr>
              <a:t>nits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is </a:t>
            </a:r>
            <a:r>
              <a:rPr b="1" lang="en" sz="2000">
                <a:solidFill>
                  <a:schemeClr val="dk1"/>
                </a:solidFill>
              </a:rPr>
              <a:t>marker-gene based tool</a:t>
            </a:r>
            <a:r>
              <a:rPr lang="en" sz="2000">
                <a:solidFill>
                  <a:schemeClr val="dk1"/>
                </a:solidFill>
              </a:rPr>
              <a:t> for taxonomic profiling of metagenomes, uses single-copy universal marker genes instead of full reference genomes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are built on the basis of MGs from both known and unknown species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Construction of marker gene-based OTUs (mOTUs) for metagenomic profiling</a:t>
            </a:r>
            <a:endParaRPr sz="262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362" y="1152475"/>
            <a:ext cx="4849637" cy="399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How mOTUs works?</a:t>
            </a:r>
            <a:endParaRPr sz="302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38" y="1193950"/>
            <a:ext cx="8313124" cy="394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General Workflow</a:t>
            </a:r>
            <a:endParaRPr sz="302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This is our complete workflow: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Start with paired-end FASTQ files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Detect marker genes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Quantify read counts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Normalize abundance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2000">
                <a:solidFill>
                  <a:schemeClr val="dk1"/>
                </a:solidFill>
              </a:rPr>
              <a:t>Produce a taxonomic profile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288" y="112625"/>
            <a:ext cx="4716125" cy="491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Why mOTUs?</a:t>
            </a:r>
            <a:endParaRPr sz="302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Good for detecting uncharacterized microorganisms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Handles unmapped reads extremely well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Lightweight enough to run on a personal laptop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Produces species-level abundance tables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Data used</a:t>
            </a:r>
            <a:endParaRPr sz="342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Paired-end FASTQ files: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evol1.sorted.unmapped.R1.fastq</a:t>
            </a:r>
            <a:endParaRPr sz="2000">
              <a:solidFill>
                <a:schemeClr val="accent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</a:pPr>
            <a:r>
              <a:rPr lang="en" sz="2000">
                <a:solidFill>
                  <a:schemeClr val="accent1"/>
                </a:solidFill>
              </a:rPr>
              <a:t>evol1.sorted.unmapped.R2.fastq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Unmapped reads from a larger shotgun metagenomics pipeline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These represent sequences not aligned to the host genome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Attempt on Picotte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attempted: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Setting up Singularity / Apptainer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Pulling the mOTUs container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Binding class data directories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Running the profiling job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Issues: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Cache conflicts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NFS lock errors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job execution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Container partially corrupted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Local installation of mOTUs</a:t>
            </a:r>
            <a:endParaRPr sz="302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6825"/>
            <a:ext cx="3834574" cy="406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/>
          <p:nvPr/>
        </p:nvSpPr>
        <p:spPr>
          <a:xfrm>
            <a:off x="1641475" y="1076825"/>
            <a:ext cx="10131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1641475" y="2354250"/>
            <a:ext cx="14877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124650" y="4625400"/>
            <a:ext cx="1013100" cy="217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Local installation cont</a:t>
            </a:r>
            <a:endParaRPr sz="302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8692"/>
            <a:ext cx="9143998" cy="45648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1458150" y="578700"/>
            <a:ext cx="1268700" cy="1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1511100" y="855170"/>
            <a:ext cx="1347900" cy="29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1578450" y="2299475"/>
            <a:ext cx="877200" cy="125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/>
          <p:nvPr/>
        </p:nvSpPr>
        <p:spPr>
          <a:xfrm>
            <a:off x="1578450" y="3362950"/>
            <a:ext cx="1028100" cy="1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6309"/>
            <a:ext cx="9143998" cy="4528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8910"/>
            <a:ext cx="9143999" cy="1765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1600"/>
            <a:ext cx="9144000" cy="1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8930450" y="445025"/>
            <a:ext cx="150300" cy="21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60299"/>
            <a:ext cx="9144001" cy="176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36"/>
            <a:ext cx="9143998" cy="143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18707"/>
            <a:ext cx="9143999" cy="118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Test File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1844"/>
            <a:ext cx="9143998" cy="426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36"/>
            <a:ext cx="9144002" cy="1184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6134"/>
            <a:ext cx="9144000" cy="108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283425"/>
            <a:ext cx="9144000" cy="101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8"/>
            <a:ext cx="9144000" cy="138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70620"/>
            <a:ext cx="9144000" cy="1894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Results summary</a:t>
            </a:r>
            <a:endParaRPr sz="3020"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We successfully ran mOTUs v3 on the paired FASTQ files.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run processed 2609 reads, with 677 reads mapped to marker genes (26%).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total of 14 mOTUs were detected (11 reference mOTUs, 3 meta-mOTUs, 0 extended mOTUs).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top species by read count included </a:t>
            </a:r>
            <a:r>
              <a:rPr i="1" lang="en" sz="2000">
                <a:solidFill>
                  <a:schemeClr val="dk1"/>
                </a:solidFill>
              </a:rPr>
              <a:t>Streptococcus anginosus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i="1" lang="en" sz="2000">
                <a:solidFill>
                  <a:schemeClr val="dk1"/>
                </a:solidFill>
              </a:rPr>
              <a:t>Actinobacteria sp.</a:t>
            </a:r>
            <a:r>
              <a:rPr lang="en" sz="2000">
                <a:solidFill>
                  <a:schemeClr val="dk1"/>
                </a:solidFill>
              </a:rPr>
              <a:t>, and </a:t>
            </a:r>
            <a:r>
              <a:rPr i="1" lang="en" sz="2000">
                <a:solidFill>
                  <a:schemeClr val="dk1"/>
                </a:solidFill>
              </a:rPr>
              <a:t>Firmicutes incertae sedis</a:t>
            </a:r>
            <a:r>
              <a:rPr lang="en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Relative abundance values showed </a:t>
            </a:r>
            <a:r>
              <a:rPr i="1" lang="en" sz="2000">
                <a:solidFill>
                  <a:schemeClr val="dk1"/>
                </a:solidFill>
              </a:rPr>
              <a:t>Streptococcus anginosus</a:t>
            </a:r>
            <a:r>
              <a:rPr lang="en" sz="2000">
                <a:solidFill>
                  <a:schemeClr val="dk1"/>
                </a:solidFill>
              </a:rPr>
              <a:t> dominating (~36% of all assigned reads).</a:t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Biological interpretation </a:t>
            </a:r>
            <a:endParaRPr sz="3020"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High-level microbial diversity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Presence of novel organisms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Possible biological relevance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Unmapped reads often reveal hidden species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mOTUs detects organisms missed by Kraken2, MetaPhlAn, etc.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What we learned</a:t>
            </a:r>
            <a:endParaRPr sz="3020"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to install and run mOTUs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to work with FASTQ paired-end reads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Understanding output abundance tables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Importance of reproducible workflows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Troubleshooting computational pipelines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Milanese, Alessio, Daniel R. Mende, Lucas Paoli, Guillem Salazar, Hans-Joachim Ruscheweyh, Miguelangel Cuenca, Pascal Hingamp, Renato Alves, Paul I. Costea, Luis Pedro Coelho, Thomas S. B. Schmidt, Alexandre Almeida, Alex L. Mitchell, Robert D. Finn, Jaime Huerta-Cepas, Peer Bork, Georg Zeller, and Shinichi Sunagawa. 2019. "Microbial abundance, activity and population genomic profiling with mOTUs2." Nature Communications 10 (1): 1014.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https://doi.org/10.1038/s41467-019-08844-4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https://motu-tool.org/tutorial.html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