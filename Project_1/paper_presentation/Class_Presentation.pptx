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7" r:id="rId5"/>
    <p:sldId id="259" r:id="rId6"/>
    <p:sldId id="272" r:id="rId7"/>
    <p:sldId id="275" r:id="rId8"/>
    <p:sldId id="267" r:id="rId9"/>
    <p:sldId id="268" r:id="rId10"/>
    <p:sldId id="287" r:id="rId11"/>
    <p:sldId id="269" r:id="rId12"/>
    <p:sldId id="270" r:id="rId13"/>
    <p:sldId id="271" r:id="rId14"/>
    <p:sldId id="276" r:id="rId15"/>
    <p:sldId id="273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8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DA"/>
    <a:srgbClr val="030553"/>
    <a:srgbClr val="6C92E1"/>
    <a:srgbClr val="7BEBD8"/>
    <a:srgbClr val="8335E5"/>
    <a:srgbClr val="6B8DE1"/>
    <a:srgbClr val="6313DC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0C70A-4110-1E96-E416-4D734DBFEDBD}" v="2" dt="2025-12-03T17:34:44.917"/>
    <p1510:client id="{2EA7591B-5D5A-3144-9B4D-61C89BF32592}" v="196" dt="2025-12-02T14:34:31.875"/>
    <p1510:client id="{68469402-13DA-DBE8-C3E1-273CBECE0A4D}" v="478" dt="2025-12-03T17:26:34.998"/>
    <p1510:client id="{7DB650B3-16BC-F55F-C1B9-68B181F16B1E}" v="349" dt="2025-12-03T06:39:27.876"/>
    <p1510:client id="{A9513FC4-CF6D-1C32-71E3-0175E86EF5E1}" v="105" dt="2025-12-02T23:03:10.021"/>
    <p1510:client id="{B4FA6D14-5286-EAEB-B61C-A7ADCC533163}" v="43" dt="2025-12-01T18:06:56.419"/>
    <p1510:client id="{C12B5262-FEC3-2340-2B5E-8F3FF146601C}" v="76" dt="2025-12-03T16:47:42.235"/>
    <p1510:client id="{D10ABD73-E74C-F60C-6CFC-CADE0C795D6B}" v="1090" dt="2025-12-02T19:22:10.055"/>
    <p1510:client id="{E8321157-6515-E4AA-C08F-E61080A29E7F}" v="79" dt="2025-12-03T06:10:54.687"/>
    <p1510:client id="{FF61B9C5-C7F7-4619-2FF4-0ABF43F551C6}" v="2" dt="2025-12-02T22:53:19.7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064"/>
        <p:guide pos="3840"/>
        <p:guide pos="456"/>
        <p:guide pos="720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 project we used three pipelines: QIIME2, NF-Core </a:t>
            </a:r>
            <a:r>
              <a:rPr lang="en-US" err="1"/>
              <a:t>Ampliseq</a:t>
            </a:r>
            <a:r>
              <a:rPr lang="en-US"/>
              <a:t>, and </a:t>
            </a:r>
            <a:r>
              <a:rPr lang="en-US" err="1"/>
              <a:t>MicrobiomeAnalyst</a:t>
            </a:r>
            <a:r>
              <a:rPr lang="en-US"/>
              <a:t>.</a:t>
            </a:r>
          </a:p>
          <a:p>
            <a:r>
              <a:rPr lang="en-US"/>
              <a:t>QIIME2 and NF-Core handle the main bioinformatic processing—things like denoising, quality filtering, and taxonomy assignment. </a:t>
            </a:r>
            <a:r>
              <a:rPr lang="en-US" err="1"/>
              <a:t>MicrobiomeAnalyst</a:t>
            </a:r>
            <a:r>
              <a:rPr lang="en-US"/>
              <a:t> is used for visualization and statistical interpretation.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Together, these pipelines let us compare how different tools process the same dataset and whether they produce consistent biological conclusions.</a:t>
            </a:r>
            <a:endParaRPr lang="en-US">
              <a:ea typeface="Calibri"/>
              <a:cs typeface="Calibri"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00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wanted to look at the biological effect of the intervention and the analytical consistency of different bioinformatics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2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8864-87C0-023A-D2C4-B1575D4F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B3F0-5200-A4D6-1092-D2A3DAA58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73581-030E-3A59-3419-9081477C3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AD183-09A7-D114-BC95-87D49D09C7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7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MicrobiomeAnalyst</a:t>
            </a:r>
            <a:r>
              <a:rPr lang="en-US"/>
              <a:t> 2.0 is a web-based analysis and visualization platform designed for amplicon microbiome data, including 16S rRNA datasets like ours.</a:t>
            </a:r>
          </a:p>
          <a:p>
            <a:r>
              <a:rPr lang="en-US"/>
              <a:t>For our project, </a:t>
            </a:r>
            <a:r>
              <a:rPr lang="en-US" err="1"/>
              <a:t>MicrobiomeAnalyst</a:t>
            </a:r>
            <a:r>
              <a:rPr lang="en-US"/>
              <a:t> was especially valuable because it provides standardized workflows for filtering, normalization, taxonomic profiling, and diversity analysis. Since our upstream ASV table and taxonomy came from NF-Core </a:t>
            </a:r>
            <a:r>
              <a:rPr lang="en-US" err="1"/>
              <a:t>ampliseq</a:t>
            </a:r>
            <a:r>
              <a:rPr lang="en-US"/>
              <a:t>, we used </a:t>
            </a:r>
            <a:r>
              <a:rPr lang="en-US" err="1"/>
              <a:t>MicrobiomeAnalyst</a:t>
            </a:r>
            <a:r>
              <a:rPr lang="en-US"/>
              <a:t> as our main tool for downstream interpretation and visualization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91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Although we performed preprocessing in QIIME2, our abundance and taxonomy inputs came from NF-Core </a:t>
            </a:r>
            <a:r>
              <a:rPr lang="en-US" err="1"/>
              <a:t>ampliseq</a:t>
            </a:r>
            <a:r>
              <a:rPr lang="en-US"/>
              <a:t>. NF-Core’s workflow uses DADA2 denoising, </a:t>
            </a:r>
            <a:r>
              <a:rPr lang="en-US" err="1"/>
              <a:t>Cutadapt</a:t>
            </a:r>
            <a:r>
              <a:rPr lang="en-US"/>
              <a:t> trimming, and SILVA 138.2 for taxonomic assignment. The advantage of using the NF-Core outputs is that the ASV table and taxonomy file were already clean and consistently formatted.</a:t>
            </a:r>
          </a:p>
          <a:p>
            <a:r>
              <a:rPr lang="en-US"/>
              <a:t>These files were loaded into </a:t>
            </a:r>
            <a:r>
              <a:rPr lang="en-US" err="1"/>
              <a:t>MicrobiomeAnalyst</a:t>
            </a:r>
            <a:r>
              <a:rPr lang="en-US"/>
              <a:t> along with our manually cleaned metadata sheet. Once sample names were aligned and blank rows removed, </a:t>
            </a:r>
            <a:r>
              <a:rPr lang="en-US" err="1"/>
              <a:t>MicrobiomeAnalyst</a:t>
            </a:r>
            <a:r>
              <a:rPr lang="en-US"/>
              <a:t> accepted the dataset and allowed us to run filtering, normalization, diversity metrics, and taxonomic profiling.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30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Abundance profiling</a:t>
            </a:r>
            <a:r>
              <a:rPr lang="en-US"/>
              <a:t> (stacked bar plots at phylum, genus, species levels)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Alpha diversity</a:t>
            </a:r>
            <a:r>
              <a:rPr lang="en-US"/>
              <a:t> (Chao1, Shannon, with Welch ANOVA)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Beta diversity</a:t>
            </a:r>
            <a:r>
              <a:rPr lang="en-US"/>
              <a:t> (Bray–Curtis </a:t>
            </a:r>
            <a:r>
              <a:rPr lang="en-US" err="1"/>
              <a:t>PCoA</a:t>
            </a:r>
            <a:r>
              <a:rPr lang="en-US"/>
              <a:t> + PERMANOVA)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Heat trees</a:t>
            </a:r>
            <a:r>
              <a:rPr lang="en-US"/>
              <a:t> (group comparisons across taxa)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Core microbiome</a:t>
            </a:r>
            <a:r>
              <a:rPr lang="en-US"/>
              <a:t> (prevalence and abundance thresholds)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10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Alpha diversity metrics are used to quantify the diversity within a sample, considering factors like the # of species (richness) and relative abundances (evenness).</a:t>
            </a:r>
          </a:p>
          <a:p>
            <a:r>
              <a:rPr lang="en-US">
                <a:ea typeface="Calibri"/>
                <a:cs typeface="Calibri"/>
              </a:rPr>
              <a:t>Beta </a:t>
            </a:r>
            <a:r>
              <a:rPr lang="en-US"/>
              <a:t>diversity metrics quantify the differences in microbial composition between samples by calculating a dissimilarity or distance matrix.</a:t>
            </a:r>
          </a:p>
          <a:p>
            <a:r>
              <a:rPr lang="en-US"/>
              <a:t>Rarefaction is a technique to assess expected species richness. It allows the calculation of species richness for a given number of individual samples, based on the construction of rarefaction curves.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Correlation measures the relationship between two variables, indicating how they move together, with values between –1 and +1.</a:t>
            </a:r>
          </a:p>
          <a:p>
            <a:r>
              <a:rPr lang="en-US">
                <a:ea typeface="Calibri"/>
                <a:cs typeface="Calibri"/>
              </a:rPr>
              <a:t>CCA is a multivariate stat technique to analyze the relationship between a set of species and a set of environmental variables.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39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Simpson's index measures the probability that 2 individuals randomly selected from a sample belong to the same species. A higher index indicates lower diversity.</a:t>
            </a:r>
          </a:p>
          <a:p>
            <a:r>
              <a:rPr lang="en-US">
                <a:ea typeface="Calibri"/>
                <a:cs typeface="Calibri"/>
              </a:rPr>
              <a:t>Shannon's index incorporates both # of species and relative abundances. A higher index value indicates greater diversity, which  means there are more species and more evenly distributed.</a:t>
            </a:r>
          </a:p>
          <a:p>
            <a:r>
              <a:rPr lang="en-US">
                <a:ea typeface="Calibri"/>
                <a:cs typeface="Calibri"/>
              </a:rPr>
              <a:t>Histograms show the overall distribution: high diversity with a few outliers</a:t>
            </a:r>
          </a:p>
          <a:p>
            <a:r>
              <a:rPr lang="en-US">
                <a:ea typeface="Calibri"/>
                <a:cs typeface="Calibri"/>
              </a:rPr>
              <a:t>Boxplots compare effect of the different diet categories on microbial diversity</a:t>
            </a:r>
          </a:p>
          <a:p>
            <a:r>
              <a:rPr lang="en-US">
                <a:ea typeface="Calibri"/>
                <a:cs typeface="Calibri"/>
              </a:rPr>
              <a:t>A – probiotic, b – control, C – no yogurt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34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</a:rPr>
              <a:t>Dissimilarity analysis is a good way to </a:t>
            </a:r>
            <a:r>
              <a:rPr lang="en-US" i="1">
                <a:solidFill>
                  <a:srgbClr val="333333"/>
                </a:solidFill>
              </a:rPr>
              <a:t>explore variability</a:t>
            </a:r>
            <a:r>
              <a:rPr lang="en-US">
                <a:solidFill>
                  <a:srgbClr val="333333"/>
                </a:solidFill>
              </a:rPr>
              <a:t> in community composition.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Bray dissimilarity index – quantify the difference between 2 samples based on the abundance of species and other entities. 0: samples identical in species composition and abundance. 1: samples share no species in common</a:t>
            </a:r>
          </a:p>
          <a:p>
            <a:r>
              <a:rPr lang="en-US">
                <a:ea typeface="Calibri"/>
                <a:cs typeface="Calibri"/>
              </a:rPr>
              <a:t>Gower dissimilarity index is used to measure the difference between 2 samples, especially those with a mix of numerical and categorical variables. 0: identical, 1: maximally different</a:t>
            </a:r>
          </a:p>
          <a:p>
            <a:r>
              <a:rPr lang="en-US"/>
              <a:t>A – probiotic, b – control, C – no yogurt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58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</a:rPr>
              <a:t>Rarefaction curves generally grow rapidly at first, as the most common species are found, but the curves plateau as only the rarest species remain to be sampled.</a:t>
            </a:r>
          </a:p>
          <a:p>
            <a:r>
              <a:rPr lang="en-US">
                <a:solidFill>
                  <a:srgbClr val="333333"/>
                </a:solidFill>
                <a:ea typeface="Calibri"/>
                <a:cs typeface="Calibri"/>
              </a:rPr>
              <a:t>Confirms alpha diversity </a:t>
            </a:r>
          </a:p>
          <a:p>
            <a:r>
              <a:rPr lang="en-US">
                <a:solidFill>
                  <a:srgbClr val="333333"/>
                </a:solidFill>
                <a:ea typeface="Calibri"/>
                <a:cs typeface="Calibri"/>
              </a:rPr>
              <a:t>Sequences between to plateau after 30K. Different heights represent a high richness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69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Multicollinearity is when 2+ independent variables in a regression model are highly correlated, making it difficult to determine the individual effect of each variable on the dependent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66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Global Model Fit - how much of total variation in microbial community the clinical variables explain</a:t>
            </a:r>
          </a:p>
          <a:p>
            <a:r>
              <a:rPr lang="en-US"/>
              <a:t>Constrained inertia - portion of microbial variation explained by clinical variables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how the explained variation (the 33.5%) is distributed across the canonical axes – clinical variables not really influential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CCA1 and CCA2 together capture about 22.6% of the total constrained variance, first two axes represent a significant portion of the relationship (look at biplot visualization)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95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CCA1 &amp; CC2 explain majority of variation in species distribution based on clinical gradients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9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p = 0.458 is much greater than the standard level of 0.05, the overall null hypothesis cannot be rejected. The entire set of clinical and experimental predictors (accounting for 33.5% of variance) does not have a statistically significant effect on the microbial community structure.</a:t>
            </a:r>
          </a:p>
          <a:p>
            <a:r>
              <a:rPr lang="en-US"/>
              <a:t>CCA summary showed that model explained 33.5% of the variance, this p-value indicates that this 33.5% could plausibly have occurred by random chance.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40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– probiotic, b – control, C – no yogurt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If the horizontal line (confidence interval) </a:t>
            </a:r>
            <a:r>
              <a:rPr lang="en-US" err="1"/>
              <a:t>doesnt</a:t>
            </a:r>
            <a:r>
              <a:rPr lang="en-US"/>
              <a:t> cross the vertical dashed line at zero, the association is statistically significant. A positive coefficient means the feature's abundance increases with the covariate, and a negative coefficient means it decreases.</a:t>
            </a:r>
          </a:p>
          <a:p>
            <a:r>
              <a:rPr lang="en-US"/>
              <a:t>Comprehensive heatmap showing the significance and direction of association for all features and all covariates.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62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7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Human resources slide 1</a:t>
            </a:r>
          </a:p>
        </p:txBody>
      </p:sp>
      <p:grpSp>
        <p:nvGrpSpPr>
          <p:cNvPr id="56" name="Group 55" descr="This image is an icon of three connected human figures. ">
            <a:extLst>
              <a:ext uri="{FF2B5EF4-FFF2-40B4-BE49-F238E27FC236}">
                <a16:creationId xmlns:a16="http://schemas.microsoft.com/office/drawing/2014/main" id="{E56C5C06-BE0B-4D3E-8B77-1A2F0B930590}"/>
              </a:ext>
            </a:extLst>
          </p:cNvPr>
          <p:cNvGrpSpPr/>
          <p:nvPr/>
        </p:nvGrpSpPr>
        <p:grpSpPr>
          <a:xfrm>
            <a:off x="4969512" y="5428948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57" name="Freeform 35">
              <a:extLst>
                <a:ext uri="{FF2B5EF4-FFF2-40B4-BE49-F238E27FC236}">
                  <a16:creationId xmlns:a16="http://schemas.microsoft.com/office/drawing/2014/main" id="{D07CC084-C9D4-47CF-9EAD-4A7517F97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58" name="Freeform 36">
              <a:extLst>
                <a:ext uri="{FF2B5EF4-FFF2-40B4-BE49-F238E27FC236}">
                  <a16:creationId xmlns:a16="http://schemas.microsoft.com/office/drawing/2014/main" id="{CCAAF87D-704F-4EAD-856F-6E1E38EF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59" name="Freeform 37">
              <a:extLst>
                <a:ext uri="{FF2B5EF4-FFF2-40B4-BE49-F238E27FC236}">
                  <a16:creationId xmlns:a16="http://schemas.microsoft.com/office/drawing/2014/main" id="{1CD5CE15-C404-4DA1-AC79-7FCD7E387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60" name="Freeform 38">
              <a:extLst>
                <a:ext uri="{FF2B5EF4-FFF2-40B4-BE49-F238E27FC236}">
                  <a16:creationId xmlns:a16="http://schemas.microsoft.com/office/drawing/2014/main" id="{B3EDC5DA-BD5A-4D94-9EF8-995AD67F8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F9DCB288-7675-41B6-9E88-9068BFDC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9ABAA1E3-5A43-4715-8E36-58674814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EA6EC370-AE96-4357-86E0-93B6C20D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5368DFC5-02C5-4946-A452-2652C5D14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8580222D-9DD6-41E9-912C-179A6E105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404744" y="2737191"/>
            <a:ext cx="4845708" cy="2954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Segoe UI"/>
                <a:cs typeface="Times New Roman"/>
              </a:rPr>
              <a:t>Comparative and Integrative Analysis of QIIME2, </a:t>
            </a:r>
            <a:r>
              <a:rPr lang="en-US" sz="2400" b="1" err="1">
                <a:solidFill>
                  <a:srgbClr val="002060"/>
                </a:solidFill>
                <a:latin typeface="Segoe UI"/>
                <a:cs typeface="Times New Roman"/>
              </a:rPr>
              <a:t>MicrobiomeAnalyst</a:t>
            </a:r>
            <a:r>
              <a:rPr lang="en-US" sz="2400" b="1">
                <a:solidFill>
                  <a:srgbClr val="002060"/>
                </a:solidFill>
                <a:latin typeface="Segoe UI"/>
                <a:cs typeface="Times New Roman"/>
              </a:rPr>
              <a:t> 2.0, and NF-Core </a:t>
            </a:r>
            <a:r>
              <a:rPr lang="en-US" sz="2400" b="1" err="1">
                <a:solidFill>
                  <a:srgbClr val="002060"/>
                </a:solidFill>
                <a:latin typeface="Segoe UI"/>
                <a:cs typeface="Times New Roman"/>
              </a:rPr>
              <a:t>ampliseq</a:t>
            </a:r>
            <a:r>
              <a:rPr lang="en-US" sz="2400" b="1">
                <a:solidFill>
                  <a:srgbClr val="002060"/>
                </a:solidFill>
                <a:latin typeface="Segoe UI"/>
                <a:cs typeface="Times New Roman"/>
              </a:rPr>
              <a:t> 2.14.0 Pipelines with Microbial–Clinical Associations in a Fermented Yogurt Intervention for Type 2 Diabetes</a:t>
            </a:r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317157" y="6405051"/>
            <a:ext cx="5025161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200">
                <a:solidFill>
                  <a:srgbClr val="002060"/>
                </a:solidFill>
                <a:latin typeface="Times New Roman"/>
                <a:ea typeface="Calibri Light"/>
                <a:cs typeface="Times New Roman"/>
              </a:rPr>
              <a:t>Andrew Reid, Asylzhan </a:t>
            </a:r>
            <a:r>
              <a:rPr lang="en-US" sz="1200" err="1">
                <a:solidFill>
                  <a:srgbClr val="002060"/>
                </a:solidFill>
                <a:latin typeface="Times New Roman"/>
                <a:ea typeface="Calibri Light"/>
                <a:cs typeface="Times New Roman"/>
              </a:rPr>
              <a:t>Almukhamet</a:t>
            </a:r>
            <a:r>
              <a:rPr lang="en-US" sz="1200">
                <a:solidFill>
                  <a:srgbClr val="002060"/>
                </a:solidFill>
                <a:latin typeface="Times New Roman"/>
                <a:ea typeface="Calibri Light"/>
                <a:cs typeface="Times New Roman"/>
              </a:rPr>
              <a:t>, Kevin Frank, Masroor Rashid, Ryan Ma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 hidden="1">
            <a:extLst>
              <a:ext uri="{FF2B5EF4-FFF2-40B4-BE49-F238E27FC236}">
                <a16:creationId xmlns:a16="http://schemas.microsoft.com/office/drawing/2014/main" id="{3D46526D-118F-4F6F-BAE0-066F422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resources slide 3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41C7FC4-FEFA-4A96-9749-9068C686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5474" y="2"/>
            <a:ext cx="3961053" cy="685799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7CEFD8"/>
              </a:gs>
              <a:gs pos="71000">
                <a:srgbClr val="6672E4"/>
              </a:gs>
              <a:gs pos="100000">
                <a:srgbClr val="882BE5"/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94AEDC0-6B1D-4A3D-860D-83756CC38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87595" y="1300476"/>
            <a:ext cx="3047138" cy="3688217"/>
            <a:chOff x="8462691" y="1300476"/>
            <a:chExt cx="3047138" cy="3688217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AECCF3F-B2FA-4F0A-96EE-B54207D66547}"/>
                </a:ext>
              </a:extLst>
            </p:cNvPr>
            <p:cNvSpPr txBox="1"/>
            <p:nvPr/>
          </p:nvSpPr>
          <p:spPr>
            <a:xfrm>
              <a:off x="8462691" y="1300476"/>
              <a:ext cx="3047138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000" b="1">
                  <a:solidFill>
                    <a:srgbClr val="002060"/>
                  </a:solidFill>
                  <a:latin typeface="Segoe UI"/>
                  <a:cs typeface="Segoe UI"/>
                </a:rPr>
                <a:t>NF-Core </a:t>
              </a:r>
              <a:r>
                <a:rPr lang="en-US" sz="2000" b="1" err="1">
                  <a:solidFill>
                    <a:srgbClr val="002060"/>
                  </a:solidFill>
                  <a:latin typeface="Segoe UI"/>
                  <a:cs typeface="Segoe UI"/>
                </a:rPr>
                <a:t>Ampliseq</a:t>
              </a:r>
              <a:r>
                <a:rPr lang="en-US" sz="2000" b="1">
                  <a:solidFill>
                    <a:srgbClr val="002060"/>
                  </a:solidFill>
                  <a:latin typeface="Segoe UI"/>
                  <a:cs typeface="Segoe UI"/>
                </a:rPr>
                <a:t> 2.14.0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DAD2E5F-3DBB-47BA-B90E-DDB45972B6AF}"/>
                </a:ext>
              </a:extLst>
            </p:cNvPr>
            <p:cNvSpPr/>
            <p:nvPr/>
          </p:nvSpPr>
          <p:spPr>
            <a:xfrm>
              <a:off x="8483139" y="2034038"/>
              <a:ext cx="2975669" cy="2954655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Fully automated </a:t>
              </a:r>
              <a:r>
                <a:rPr lang="en-US" sz="1600" b="1" err="1">
                  <a:solidFill>
                    <a:srgbClr val="002060"/>
                  </a:solidFill>
                  <a:ea typeface="+mn-lt"/>
                  <a:cs typeface="+mn-lt"/>
                </a:rPr>
                <a:t>Nextflow</a:t>
              </a:r>
              <a:r>
                <a:rPr lang="en-US" sz="1600" b="1">
                  <a:solidFill>
                    <a:srgbClr val="002060"/>
                  </a:solidFill>
                  <a:ea typeface="+mn-lt"/>
                  <a:cs typeface="+mn-lt"/>
                </a:rPr>
                <a:t> pipeline</a:t>
              </a: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 for raw amplicon data.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Performs </a:t>
              </a:r>
              <a:r>
                <a:rPr lang="en-US" sz="1600" b="1">
                  <a:solidFill>
                    <a:srgbClr val="002060"/>
                  </a:solidFill>
                  <a:ea typeface="+mn-lt"/>
                  <a:cs typeface="+mn-lt"/>
                </a:rPr>
                <a:t>QC, primer trimming, DADA2 denoising, clustering, and taxonomy</a:t>
              </a: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.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Uses </a:t>
              </a:r>
              <a:r>
                <a:rPr lang="en-US" sz="1600" b="1">
                  <a:solidFill>
                    <a:srgbClr val="002060"/>
                  </a:solidFill>
                  <a:ea typeface="+mn-lt"/>
                  <a:cs typeface="+mn-lt"/>
                </a:rPr>
                <a:t>containerized, version-controlled software</a:t>
              </a: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 for maximum reproducibility.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Ideal for </a:t>
              </a:r>
              <a:r>
                <a:rPr lang="en-US" sz="1600" b="1">
                  <a:solidFill>
                    <a:srgbClr val="002060"/>
                  </a:solidFill>
                  <a:ea typeface="+mn-lt"/>
                  <a:cs typeface="+mn-lt"/>
                </a:rPr>
                <a:t>HPC clusters</a:t>
              </a:r>
              <a:r>
                <a:rPr lang="en-US" sz="1600">
                  <a:solidFill>
                    <a:srgbClr val="002060"/>
                  </a:solidFill>
                  <a:ea typeface="+mn-lt"/>
                  <a:cs typeface="+mn-lt"/>
                </a:rPr>
                <a:t>, multi-center studies, and standardized workflows.</a:t>
              </a:r>
              <a:endParaRPr lang="en-US">
                <a:ea typeface="+mn-lt"/>
                <a:cs typeface="+mn-lt"/>
              </a:endParaRPr>
            </a:p>
            <a:p>
              <a:endParaRPr lang="en-US" sz="1600" i="1">
                <a:solidFill>
                  <a:srgbClr val="002060"/>
                </a:solidFill>
                <a:latin typeface="+mj-lt"/>
                <a:ea typeface="Calibri Light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E85A9B-301A-C568-E21F-3BB6CD3D9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3319" y="1300476"/>
            <a:ext cx="3047138" cy="4318138"/>
            <a:chOff x="8462691" y="1300476"/>
            <a:chExt cx="3047138" cy="431813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D52891C-1ED1-891E-2302-050C5E3F7D52}"/>
                </a:ext>
              </a:extLst>
            </p:cNvPr>
            <p:cNvSpPr txBox="1"/>
            <p:nvPr/>
          </p:nvSpPr>
          <p:spPr>
            <a:xfrm>
              <a:off x="8462691" y="1300476"/>
              <a:ext cx="3047138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000" b="1">
                  <a:solidFill>
                    <a:srgbClr val="002060"/>
                  </a:solidFill>
                  <a:latin typeface="Segoe UI"/>
                  <a:cs typeface="Segoe UI"/>
                </a:rPr>
                <a:t>QIIME2</a:t>
              </a:r>
              <a:endParaRPr lang="en-US" sz="20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A0D94F3-F2CA-D370-4FDF-CE2049086213}"/>
                </a:ext>
              </a:extLst>
            </p:cNvPr>
            <p:cNvSpPr/>
            <p:nvPr/>
          </p:nvSpPr>
          <p:spPr>
            <a:xfrm>
              <a:off x="8483139" y="2034038"/>
              <a:ext cx="2975669" cy="3200876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Processes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raw FASTQ data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 from start to finish.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Performs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quality control, denoising (DADA2/Deblur)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, feature table creation, and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taxonomy assignment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Includes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alpha/beta diversity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, phylogenetics, and visualizations.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Strong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provenance tracking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 ensures full reproducibility.</a:t>
              </a:r>
              <a:endParaRPr lang="en-US">
                <a:latin typeface="Calibri" panose="020F0502020204030204"/>
                <a:ea typeface="+mn-lt"/>
                <a:cs typeface="+mn-lt"/>
              </a:endParaRPr>
            </a:p>
            <a:p>
              <a:endParaRPr lang="en-US" sz="1600" i="1">
                <a:solidFill>
                  <a:srgbClr val="002060"/>
                </a:solidFill>
                <a:latin typeface="+mj-lt"/>
                <a:ea typeface="Calibri Light"/>
                <a:cs typeface="Segoe UI" panose="020B0502040204020203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1FB799F-A487-4C1F-3896-6A42BF59AC84}"/>
                </a:ext>
              </a:extLst>
            </p:cNvPr>
            <p:cNvSpPr/>
            <p:nvPr/>
          </p:nvSpPr>
          <p:spPr>
            <a:xfrm>
              <a:off x="8483139" y="3633268"/>
              <a:ext cx="2975669" cy="24622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endParaRPr lang="en-US" sz="1600" i="1">
                <a:solidFill>
                  <a:srgbClr val="002060"/>
                </a:solidFill>
                <a:latin typeface="+mj-lt"/>
                <a:ea typeface="Calibri Light"/>
                <a:cs typeface="Segoe UI" panose="020B0502040204020203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745932C-F773-D5C2-2ECA-179F70EB790F}"/>
                </a:ext>
              </a:extLst>
            </p:cNvPr>
            <p:cNvSpPr txBox="1"/>
            <p:nvPr/>
          </p:nvSpPr>
          <p:spPr>
            <a:xfrm>
              <a:off x="8462691" y="4638831"/>
              <a:ext cx="3047138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1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8EB15CF-FB4E-1B08-EE87-FFD0511676E4}"/>
                </a:ext>
              </a:extLst>
            </p:cNvPr>
            <p:cNvSpPr/>
            <p:nvPr/>
          </p:nvSpPr>
          <p:spPr>
            <a:xfrm>
              <a:off x="8483139" y="5372393"/>
              <a:ext cx="2975669" cy="24622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endParaRPr lang="en-US" sz="1600" i="1">
                <a:solidFill>
                  <a:srgbClr val="002060"/>
                </a:solidFill>
                <a:latin typeface="+mj-lt"/>
                <a:ea typeface="Calibri Light"/>
                <a:cs typeface="Segoe UI" panose="020B0502040204020203" pitchFamily="34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DB29B8F-71E3-10AE-6075-6505AA494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75422" y="1300476"/>
            <a:ext cx="3047138" cy="4426881"/>
            <a:chOff x="8462691" y="1300476"/>
            <a:chExt cx="3047138" cy="442688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FDC6A2A-7CC9-7580-4151-038688529B13}"/>
                </a:ext>
              </a:extLst>
            </p:cNvPr>
            <p:cNvSpPr txBox="1"/>
            <p:nvPr/>
          </p:nvSpPr>
          <p:spPr>
            <a:xfrm>
              <a:off x="8462691" y="1300476"/>
              <a:ext cx="3047138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000" b="1" err="1">
                  <a:solidFill>
                    <a:srgbClr val="002060"/>
                  </a:solidFill>
                  <a:latin typeface="Segoe UI"/>
                  <a:cs typeface="Segoe UI"/>
                </a:rPr>
                <a:t>MicrobiomeAnalyst</a:t>
              </a:r>
              <a:r>
                <a:rPr lang="en-US" sz="2000" b="1">
                  <a:solidFill>
                    <a:srgbClr val="002060"/>
                  </a:solidFill>
                  <a:latin typeface="Segoe UI"/>
                  <a:cs typeface="Segoe UI"/>
                </a:rPr>
                <a:t> 2.0</a:t>
              </a:r>
              <a:endParaRPr lang="en-US" sz="20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293217E-B3EA-8A62-AA98-E9F44CC0886D}"/>
                </a:ext>
              </a:extLst>
            </p:cNvPr>
            <p:cNvSpPr/>
            <p:nvPr/>
          </p:nvSpPr>
          <p:spPr>
            <a:xfrm>
              <a:off x="8483139" y="2034038"/>
              <a:ext cx="2975669" cy="369331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Works with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processed feature tables + metadata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 (not raw FASTQ).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Provides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filtering, normalization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, and extensive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statistical analysis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 tools.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Offers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differential abundance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, biomarker discovery (</a:t>
              </a:r>
              <a:r>
                <a:rPr lang="en-US" sz="1600" err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LEfSe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), and functional predictions.</a:t>
              </a:r>
              <a:endParaRPr lang="en-US">
                <a:latin typeface="Segoe UI"/>
                <a:cs typeface="Segoe U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Easy-to-use </a:t>
              </a:r>
              <a:r>
                <a:rPr lang="en-US" sz="1600" b="1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web interface</a:t>
              </a:r>
              <a:r>
                <a:rPr lang="en-US" sz="1600">
                  <a:solidFill>
                    <a:srgbClr val="002060"/>
                  </a:solidFill>
                  <a:latin typeface="Segoe UI"/>
                  <a:ea typeface="+mn-lt"/>
                  <a:cs typeface="+mn-lt"/>
                </a:rPr>
                <a:t> for fast visualization and figure generation.</a:t>
              </a:r>
              <a:endParaRPr lang="en-US">
                <a:latin typeface="Segoe UI"/>
                <a:ea typeface="+mn-lt"/>
                <a:cs typeface="+mn-lt"/>
              </a:endParaRPr>
            </a:p>
            <a:p>
              <a:endParaRPr lang="en-US" sz="1600" i="1">
                <a:solidFill>
                  <a:srgbClr val="002060"/>
                </a:solidFill>
                <a:latin typeface="+mj-lt"/>
                <a:ea typeface="Calibri Light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094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5FDE8-11E9-2598-713A-BAFB36C2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Background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63417-97CC-3B3A-CB70-667B351E2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sz="1100"/>
          </a:p>
          <a:p>
            <a:r>
              <a:rPr lang="en-US" sz="1200"/>
              <a:t>T</a:t>
            </a:r>
            <a:r>
              <a:rPr lang="en-US" sz="1400"/>
              <a:t>ype 2 diabetes is linked to altered gut microbiota and metabolic markers.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  <a:p>
            <a:r>
              <a:rPr lang="en-US" sz="1400"/>
              <a:t>Medical nutrition therapy improves glucose, HbA1c, weight, lipids, and blood pressure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  <a:p>
            <a:r>
              <a:rPr lang="en-US" sz="1400"/>
              <a:t>Bifidobacterium </a:t>
            </a:r>
            <a:r>
              <a:rPr lang="en-US" sz="1400" err="1"/>
              <a:t>animalis</a:t>
            </a:r>
            <a:r>
              <a:rPr lang="en-US" sz="1400"/>
              <a:t> subsp. lactis B420 is a common probiotic in fermented dairy.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  <a:p>
            <a:r>
              <a:rPr lang="en-US" sz="1400"/>
              <a:t>B420 has been linked to better weight regulation and lower blood glucose in early studies.</a:t>
            </a: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  <a:p>
            <a:r>
              <a:rPr lang="en-US" sz="1400"/>
              <a:t>Our yogurt trial includes three groups: no yogurt, regular yogurt, and B420-fortified yogurt.</a:t>
            </a:r>
            <a:br>
              <a:rPr lang="en-US" sz="1400"/>
            </a:br>
            <a:endParaRPr lang="en-US" sz="1400">
              <a:ea typeface="Calibri"/>
              <a:cs typeface="Calibri"/>
            </a:endParaRPr>
          </a:p>
          <a:p>
            <a:endParaRPr lang="en-US" sz="1400">
              <a:ea typeface="Calibri"/>
              <a:cs typeface="Calibri"/>
            </a:endParaRPr>
          </a:p>
          <a:p>
            <a:endParaRPr lang="en-US" sz="1100"/>
          </a:p>
          <a:p>
            <a:endParaRPr lang="en-US" sz="1100"/>
          </a:p>
          <a:p>
            <a:endParaRPr lang="en-US" sz="1100"/>
          </a:p>
        </p:txBody>
      </p:sp>
      <p:pic>
        <p:nvPicPr>
          <p:cNvPr id="7" name="Content Placeholder 6" descr="A close-up of a food system&#10;&#10;AI-generated content may be incorrect.">
            <a:extLst>
              <a:ext uri="{FF2B5EF4-FFF2-40B4-BE49-F238E27FC236}">
                <a16:creationId xmlns:a16="http://schemas.microsoft.com/office/drawing/2014/main" id="{D5EB44B9-3EA2-6166-58A3-7C2D6C9CEB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9367" y="2464708"/>
            <a:ext cx="4788505" cy="3196326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wearing a white coat and gloves&#10;&#10;AI-generated content may be incorrect.">
            <a:extLst>
              <a:ext uri="{FF2B5EF4-FFF2-40B4-BE49-F238E27FC236}">
                <a16:creationId xmlns:a16="http://schemas.microsoft.com/office/drawing/2014/main" id="{A3D48F93-94BF-16E1-5C02-2DCE69CFD9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976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804A1-B80E-E829-707D-5D6A1A05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6C71-9301-F2FE-C0BD-4F861666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000"/>
              <a:t>Use pipeline comparisons to improve microbiome research design, reporting, and reproducibility.</a:t>
            </a:r>
            <a:endParaRPr lang="en-US">
              <a:ea typeface="Calibri"/>
              <a:cs typeface="Calibri"/>
            </a:endParaRPr>
          </a:p>
          <a:p>
            <a:endParaRPr lang="en-US" sz="1000"/>
          </a:p>
          <a:p>
            <a:endParaRPr lang="en-US" sz="1000"/>
          </a:p>
          <a:p>
            <a:r>
              <a:rPr lang="en-US" sz="1000"/>
              <a:t>Provide stronger evidence for or against yogurt and probiotic yogurt as tools in medical nutrition therapy for type 2 diabetes.</a:t>
            </a:r>
            <a:endParaRPr lang="en-US" sz="1000">
              <a:ea typeface="Calibri"/>
              <a:cs typeface="Calibri"/>
            </a:endParaRPr>
          </a:p>
          <a:p>
            <a:endParaRPr lang="en-US" sz="1000"/>
          </a:p>
          <a:p>
            <a:endParaRPr lang="en-US" sz="1000"/>
          </a:p>
          <a:p>
            <a:r>
              <a:rPr lang="en-US" sz="1000"/>
              <a:t>•dietitians match specific yogurt products or probiotic strains to patients based on microbial and clinical responses.</a:t>
            </a:r>
            <a:endParaRPr lang="en-US" sz="1000">
              <a:ea typeface="Calibri"/>
              <a:cs typeface="Calibri"/>
            </a:endParaRPr>
          </a:p>
          <a:p>
            <a:endParaRPr lang="en-US" sz="1000"/>
          </a:p>
          <a:p>
            <a:endParaRPr lang="en-US" sz="1000"/>
          </a:p>
          <a:p>
            <a:r>
              <a:rPr lang="en-US" sz="1000"/>
              <a:t>Support development of microbiome-informed dietary guidelines and future clinical trials that target metabolic health.</a:t>
            </a:r>
            <a:endParaRPr lang="en-US" sz="1000">
              <a:ea typeface="Calibri"/>
              <a:cs typeface="Calibri"/>
            </a:endParaRPr>
          </a:p>
          <a:p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22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AD2C-61E1-A52C-2C24-640D8005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52" hidden="1">
            <a:extLst>
              <a:ext uri="{FF2B5EF4-FFF2-40B4-BE49-F238E27FC236}">
                <a16:creationId xmlns:a16="http://schemas.microsoft.com/office/drawing/2014/main" id="{419574FA-1102-0B11-1D87-F9DB4BBF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resources slide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3864B-C24D-FFF8-FBE2-48A323C0C693}"/>
              </a:ext>
            </a:extLst>
          </p:cNvPr>
          <p:cNvSpPr txBox="1"/>
          <p:nvPr/>
        </p:nvSpPr>
        <p:spPr>
          <a:xfrm>
            <a:off x="726781" y="273553"/>
            <a:ext cx="5369219" cy="4052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3200" err="1">
                <a:latin typeface="Segoe UI"/>
                <a:cs typeface="Segoe UI"/>
              </a:rPr>
              <a:t>Qiime</a:t>
            </a:r>
            <a:r>
              <a:rPr lang="en-US" sz="3200">
                <a:latin typeface="Segoe UI"/>
                <a:cs typeface="Segoe UI"/>
              </a:rPr>
              <a:t> Overview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4B20FB-EADB-BBDC-D1AE-6280F9301FA9}"/>
              </a:ext>
            </a:extLst>
          </p:cNvPr>
          <p:cNvSpPr txBox="1"/>
          <p:nvPr/>
        </p:nvSpPr>
        <p:spPr>
          <a:xfrm>
            <a:off x="726781" y="1028937"/>
            <a:ext cx="6224717" cy="517064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ea typeface="Calibri Light" panose="020F0302020204030204"/>
                <a:cs typeface="Segoe UI"/>
              </a:rPr>
              <a:t>Started with Demultiplexed data and created visualization</a:t>
            </a:r>
          </a:p>
          <a:p>
            <a:pPr marL="742950" lvl="1" indent="-285750">
              <a:lnSpc>
                <a:spcPct val="200000"/>
              </a:lnSpc>
              <a:buFont typeface="Courier New"/>
              <a:buChar char="o"/>
            </a:pPr>
            <a:r>
              <a:rPr lang="en-US" sz="1600">
                <a:solidFill>
                  <a:srgbClr val="002060"/>
                </a:solidFill>
                <a:latin typeface="Calibri Light"/>
                <a:ea typeface="Calibri Light" panose="020F0302020204030204"/>
                <a:cs typeface="Segoe UI"/>
              </a:rPr>
              <a:t>Most reads around 60000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Dada2 for denoising and filtering to remove sequence errors</a:t>
            </a:r>
          </a:p>
          <a:p>
            <a:pPr marL="742950" lvl="1" indent="-285750">
              <a:lnSpc>
                <a:spcPct val="200000"/>
              </a:lnSpc>
              <a:buFont typeface="Courier New"/>
              <a:buChar char="o"/>
            </a:pPr>
            <a:r>
              <a:rPr lang="en-US" sz="1600">
                <a:solidFill>
                  <a:srgbClr val="002060"/>
                </a:solidFill>
                <a:latin typeface="Calibri Light"/>
                <a:ea typeface="Calibri Light" panose="020F0302020204030204"/>
                <a:cs typeface="Segoe UI"/>
              </a:rPr>
              <a:t>Visualization file showing % that passed input filter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Mapping of feature IDs to sequences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Generation of phylogenetic tree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Compute default Alpha and Beta metrics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Converted to </a:t>
            </a:r>
            <a:r>
              <a:rPr lang="en-US" i="0" err="1">
                <a:latin typeface="Calibri Light"/>
                <a:ea typeface="Calibri Light" panose="020F0302020204030204"/>
                <a:cs typeface="Segoe UI"/>
              </a:rPr>
              <a:t>MicroBiome</a:t>
            </a:r>
            <a:r>
              <a:rPr lang="en-US" i="0">
                <a:latin typeface="Calibri Light"/>
                <a:ea typeface="Calibri Light" panose="020F0302020204030204"/>
                <a:cs typeface="Segoe UI"/>
              </a:rPr>
              <a:t> Analyst</a:t>
            </a:r>
            <a:endParaRPr lang="en-US" i="0">
              <a:solidFill>
                <a:srgbClr val="002060"/>
              </a:solidFill>
              <a:latin typeface="Calibri Light"/>
              <a:ea typeface="Calibri Light" panose="020F0302020204030204"/>
              <a:cs typeface="Segoe UI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Takes hours to run (~3 hours)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i="0">
                <a:latin typeface="Calibri Light"/>
                <a:ea typeface="Calibri Light" panose="020F0302020204030204"/>
                <a:cs typeface="Segoe UI"/>
              </a:rPr>
              <a:t>Memory errors generating phylogenetic tree</a:t>
            </a:r>
          </a:p>
          <a:p>
            <a:pPr marL="285750" indent="-285750">
              <a:buFont typeface="Arial"/>
              <a:buChar char="•"/>
            </a:pPr>
            <a:endParaRPr lang="en-US" i="0">
              <a:latin typeface="Calibri Light"/>
              <a:ea typeface="Calibri Light" panose="020F0302020204030204"/>
              <a:cs typeface="Segoe UI"/>
            </a:endParaRPr>
          </a:p>
        </p:txBody>
      </p:sp>
      <p:pic>
        <p:nvPicPr>
          <p:cNvPr id="51" name="Picture 50" descr="A graph of a number of samples&#10;&#10;AI-generated content may be incorrect.">
            <a:extLst>
              <a:ext uri="{FF2B5EF4-FFF2-40B4-BE49-F238E27FC236}">
                <a16:creationId xmlns:a16="http://schemas.microsoft.com/office/drawing/2014/main" id="{3DF6C174-DC9B-4A91-E9BC-D24A4D5D4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112" y="176893"/>
            <a:ext cx="4522400" cy="3252106"/>
          </a:xfrm>
          <a:prstGeom prst="rect">
            <a:avLst/>
          </a:prstGeom>
        </p:spPr>
      </p:pic>
      <p:pic>
        <p:nvPicPr>
          <p:cNvPr id="52" name="Picture 5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048080-CBB2-31A3-66CC-223190E2BF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716" b="-224"/>
          <a:stretch>
            <a:fillRect/>
          </a:stretch>
        </p:blipFill>
        <p:spPr>
          <a:xfrm>
            <a:off x="7409089" y="3429149"/>
            <a:ext cx="4211418" cy="305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2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A64F-087C-46CF-7F59-A9BA4E44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002060"/>
                </a:solidFill>
                <a:ea typeface="Calibri Light" panose="020F0302020204030204"/>
                <a:cs typeface="Calibri Light" panose="020F0302020204030204"/>
              </a:rPr>
              <a:t>Diversity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753CB-A1C7-A926-FB8C-07D44A402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5002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3600" b="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Alpha Diversity</a:t>
            </a:r>
            <a:endParaRPr lang="en-US" sz="36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394AF-E20B-4630-47AD-B9AA90AD5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Shannon diversity matrix (community richness, high score  -&gt; high diversity)</a:t>
            </a:r>
            <a:endParaRPr lang="en-US" sz="2000">
              <a:latin typeface="Calibri Light"/>
              <a:ea typeface="Calibri Light"/>
              <a:cs typeface="Calibri Light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Faiths phylogenetic diversity (</a:t>
            </a:r>
            <a:r>
              <a:rPr lang="en-US" sz="2000">
                <a:solidFill>
                  <a:srgbClr val="002060"/>
                </a:solidFill>
                <a:latin typeface="Calibri Light"/>
                <a:ea typeface="+mn-lt"/>
                <a:cs typeface="+mn-lt"/>
              </a:rPr>
              <a:t>a qualitative measure of community richness that incorporates phylogenetic relationships between the features)</a:t>
            </a:r>
            <a:endParaRPr lang="en-US" sz="2000">
              <a:solidFill>
                <a:srgbClr val="002060"/>
              </a:solidFill>
              <a:latin typeface="Calibri Light"/>
              <a:ea typeface="Calibri Light"/>
              <a:cs typeface="Calibri Light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Observed Features (qualitative community richness)</a:t>
            </a:r>
            <a:endParaRPr lang="en-US" sz="2000">
              <a:latin typeface="Calibri Light"/>
              <a:ea typeface="Calibri Light"/>
              <a:cs typeface="Calibri Light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Evenness (measure of community evenness)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84EA4-3649-A856-FB78-9011A5609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83217"/>
            <a:ext cx="5183188" cy="823912"/>
          </a:xfrm>
        </p:spPr>
        <p:txBody>
          <a:bodyPr/>
          <a:lstStyle/>
          <a:p>
            <a:pPr algn="ctr"/>
            <a:r>
              <a:rPr lang="en-US" sz="3600" b="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Beta Diversity</a:t>
            </a:r>
            <a:endParaRPr lang="en-US" sz="3600" b="0" err="1">
              <a:latin typeface="Calibri Light"/>
              <a:ea typeface="Calibri Light"/>
              <a:cs typeface="Calibri Light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2A4A2-0FCE-53C3-AF4B-148354B8C3B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Jaccard Distance (qualitative measure of community dissimilarity)</a:t>
            </a:r>
            <a:endParaRPr lang="en-US" sz="2000">
              <a:latin typeface="Calibri Light"/>
              <a:ea typeface="Calibri Light"/>
              <a:cs typeface="Calibri Light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Bray-Curtis Distance (quantitative measure of community dissimilarity)</a:t>
            </a:r>
            <a:endParaRPr lang="en-US" sz="2000">
              <a:latin typeface="Calibri Light"/>
              <a:ea typeface="Calibri Light"/>
              <a:cs typeface="Calibri Light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Unweighted and Weighted </a:t>
            </a:r>
            <a:r>
              <a:rPr lang="en-US" sz="2000" err="1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Unifrac</a:t>
            </a:r>
            <a:r>
              <a:rPr lang="en-US" sz="2000">
                <a:solidFill>
                  <a:srgbClr val="002060"/>
                </a:solidFill>
                <a:latin typeface="Calibri Light"/>
                <a:ea typeface="Calibri Light"/>
                <a:cs typeface="Calibri Light"/>
              </a:rPr>
              <a:t> Distance (community dissimilarity with phylogenetic relationships)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1716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CA33-083E-CBE9-19AD-DCE346E7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3DFF-2536-A0B0-A27E-5C163788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002060"/>
                </a:solidFill>
                <a:ea typeface="Calibri Light" panose="020F0302020204030204"/>
                <a:cs typeface="Calibri Light" panose="020F0302020204030204"/>
              </a:rPr>
              <a:t>Alpha Rarefaction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69F611-4819-051F-B63D-327E5F85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9" y="1404546"/>
            <a:ext cx="11355161" cy="499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73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63E3B-F0D0-2CAB-EB14-869FDC4A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latin typeface="Aptos Display"/>
                <a:ea typeface="+mj-lt"/>
                <a:cs typeface="+mj-lt"/>
              </a:rPr>
              <a:t>NFCore Ampliseq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BD883-831C-D875-6CAF-AC4EC0AA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 sz="1400">
                <a:latin typeface="Aptos"/>
                <a:ea typeface="+mn-lt"/>
                <a:cs typeface="+mn-lt"/>
              </a:rPr>
              <a:t>Used NFCore to run through the dataset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Provides a convenient way to run multiple analysis software within a singlepackage</a:t>
            </a:r>
          </a:p>
          <a:p>
            <a:endParaRPr lang="en-US" sz="1400">
              <a:latin typeface="Aptos"/>
              <a:ea typeface="+mn-lt"/>
              <a:cs typeface="+mn-lt"/>
            </a:endParaRPr>
          </a:p>
          <a:p>
            <a:r>
              <a:rPr lang="en-US" sz="1400">
                <a:latin typeface="Aptos"/>
                <a:ea typeface="+mn-lt"/>
                <a:cs typeface="+mn-lt"/>
              </a:rPr>
              <a:t>Within NFCore, Ampliseq was used to run the analysis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Used to run on amplicons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1400">
              <a:latin typeface="Aptos"/>
              <a:ea typeface="+mn-lt"/>
              <a:cs typeface="+mn-lt"/>
            </a:endParaRPr>
          </a:p>
          <a:p>
            <a:r>
              <a:rPr lang="en-US" sz="1400">
                <a:latin typeface="Aptos"/>
                <a:ea typeface="+mn-lt"/>
                <a:cs typeface="+mn-lt"/>
              </a:rPr>
              <a:t>Example packages used in the pipeline include: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QIIME2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DADA2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MultiQC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>
                <a:latin typeface="Aptos"/>
                <a:ea typeface="+mn-lt"/>
                <a:cs typeface="+mn-lt"/>
              </a:rPr>
              <a:t>Etc.</a:t>
            </a:r>
            <a:endParaRPr lang="en-US" sz="1400"/>
          </a:p>
        </p:txBody>
      </p:sp>
      <p:pic>
        <p:nvPicPr>
          <p:cNvPr id="4" name="Picture 3" descr="ampliseq: Introduction">
            <a:extLst>
              <a:ext uri="{FF2B5EF4-FFF2-40B4-BE49-F238E27FC236}">
                <a16:creationId xmlns:a16="http://schemas.microsoft.com/office/drawing/2014/main" id="{894FF332-77DA-7BFF-0212-73E1F5862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18187"/>
            <a:ext cx="5150277" cy="24463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9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060EE-9AF7-D63B-23D4-6B2DA12F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54A3B-89F9-BDF1-CC73-1CDA5FAD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>
                <a:latin typeface="Aptos Display"/>
                <a:ea typeface="+mj-lt"/>
                <a:cs typeface="+mj-lt"/>
              </a:rPr>
              <a:t>Setting Up Environment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0E553-D393-A47D-1931-5A241E5B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 sz="1600">
                <a:latin typeface="Aptos"/>
                <a:ea typeface="+mn-lt"/>
                <a:cs typeface="+mn-lt"/>
              </a:rPr>
              <a:t>Approach not the best because a docker would have been better</a:t>
            </a:r>
          </a:p>
          <a:p>
            <a:endParaRPr lang="en-US" sz="1600">
              <a:latin typeface="Aptos"/>
              <a:ea typeface="+mn-lt"/>
              <a:cs typeface="+mn-lt"/>
            </a:endParaRPr>
          </a:p>
          <a:p>
            <a:r>
              <a:rPr lang="en-US" sz="1600">
                <a:latin typeface="Aptos"/>
                <a:ea typeface="+mn-lt"/>
                <a:cs typeface="+mn-lt"/>
              </a:rPr>
              <a:t>Worked using conda within Piccotte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Aptos"/>
                <a:ea typeface="+mn-lt"/>
                <a:cs typeface="+mn-lt"/>
              </a:rPr>
              <a:t>Easiest to setup and run based on personal skill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Aptos"/>
                <a:ea typeface="+mn-lt"/>
                <a:cs typeface="+mn-lt"/>
              </a:rPr>
              <a:t>Download the nf-core package from bioconda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1600">
              <a:latin typeface="Aptos"/>
              <a:ea typeface="+mn-lt"/>
              <a:cs typeface="+mn-lt"/>
            </a:endParaRPr>
          </a:p>
          <a:p>
            <a:r>
              <a:rPr lang="en-US" sz="1600">
                <a:latin typeface="Aptos"/>
                <a:ea typeface="+mn-lt"/>
                <a:cs typeface="+mn-lt"/>
              </a:rPr>
              <a:t>Specific Configurations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Aptos"/>
                <a:ea typeface="+mn-lt"/>
                <a:cs typeface="+mn-lt"/>
              </a:rPr>
              <a:t>Older version of python and conda used (python 3.11 conda 25.1.1.0)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Aptos"/>
                <a:ea typeface="+mn-lt"/>
                <a:cs typeface="+mn-lt"/>
              </a:rPr>
              <a:t>Assumed that current conda version doesn't have bash function that iscompatible with current nf-core version</a:t>
            </a:r>
            <a:endParaRPr lang="en-US" sz="1600"/>
          </a:p>
        </p:txBody>
      </p:sp>
      <p:pic>
        <p:nvPicPr>
          <p:cNvPr id="5" name="Picture 4" descr="File:Conda logo.svg - Wikimedia Commons">
            <a:extLst>
              <a:ext uri="{FF2B5EF4-FFF2-40B4-BE49-F238E27FC236}">
                <a16:creationId xmlns:a16="http://schemas.microsoft.com/office/drawing/2014/main" id="{A6096FB5-0236-2091-4690-95EC44C8F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566064"/>
            <a:ext cx="4788505" cy="99361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6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BC61A-FF6E-9025-4C12-80040C4F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C0B88-1E19-26E7-0A71-6D688D72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Aptos Display"/>
                <a:ea typeface="+mj-lt"/>
                <a:cs typeface="+mj-lt"/>
              </a:rPr>
              <a:t>Configuring Dataset</a:t>
            </a:r>
            <a:endParaRPr lang="en-US" sz="500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2A64-5263-3E46-CEA6-A771962E3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200">
                <a:latin typeface="Aptos"/>
                <a:ea typeface="+mn-lt"/>
                <a:cs typeface="+mn-lt"/>
              </a:rPr>
              <a:t>Ran the diet data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latin typeface="Aptos"/>
                <a:ea typeface="+mn-lt"/>
                <a:cs typeface="+mn-lt"/>
              </a:rPr>
              <a:t>PCR[#].extendedFrags.fastq.gz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1200">
              <a:latin typeface="Aptos"/>
              <a:ea typeface="+mn-lt"/>
              <a:cs typeface="+mn-lt"/>
            </a:endParaRPr>
          </a:p>
          <a:p>
            <a:r>
              <a:rPr lang="en-US" sz="1200">
                <a:latin typeface="Aptos"/>
                <a:ea typeface="+mn-lt"/>
                <a:cs typeface="+mn-lt"/>
              </a:rPr>
              <a:t>File title specification that needs to be achieved for dataset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latin typeface="Aptos"/>
                <a:ea typeface="+mn-lt"/>
                <a:cs typeface="+mn-lt"/>
              </a:rPr>
              <a:t>No periods until the file type extension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latin typeface="Aptos"/>
                <a:ea typeface="+mn-lt"/>
                <a:cs typeface="+mn-lt"/>
              </a:rPr>
              <a:t>Anything before an underscore must have a unique PCR string</a:t>
            </a:r>
          </a:p>
          <a:p>
            <a:endParaRPr lang="en-US" sz="1200">
              <a:latin typeface="Aptos"/>
              <a:ea typeface="+mn-lt"/>
              <a:cs typeface="+mn-lt"/>
            </a:endParaRPr>
          </a:p>
          <a:p>
            <a:r>
              <a:rPr lang="en-US" sz="1200">
                <a:latin typeface="Aptos"/>
                <a:ea typeface="+mn-lt"/>
                <a:cs typeface="+mn-lt"/>
              </a:rPr>
              <a:t>Reformat the file title to be compatible with nf-core syntax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latin typeface="Aptos"/>
                <a:ea typeface="+mn-lt"/>
                <a:cs typeface="+mn-lt"/>
              </a:rPr>
              <a:t>For single digit files  --&gt; PCR[#]a_extendedFrags.fastq.gz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latin typeface="Aptos"/>
                <a:ea typeface="+mn-lt"/>
                <a:cs typeface="+mn-lt"/>
              </a:rPr>
              <a:t>For double digit files --&gt; PCR[#]_extendedFrags.fastq.gz</a:t>
            </a:r>
          </a:p>
          <a:p>
            <a:endParaRPr lang="en-US" sz="1200">
              <a:latin typeface="Aptos"/>
              <a:ea typeface="+mn-lt"/>
              <a:cs typeface="+mn-lt"/>
            </a:endParaRPr>
          </a:p>
          <a:p>
            <a:r>
              <a:rPr lang="en-US" sz="1200">
                <a:latin typeface="Aptos"/>
                <a:ea typeface="+mn-lt"/>
                <a:cs typeface="+mn-lt"/>
              </a:rPr>
              <a:t>After formatting, nf-core/ampliseq could be run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5E7E2E-A3DC-AAF2-05DD-2351BA55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907" y="640080"/>
            <a:ext cx="317725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C04AF4-3224-11B3-C4A6-E1F16E5D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chemeClr val="tx2"/>
                </a:solidFill>
                <a:latin typeface="Segoe UI"/>
                <a:ea typeface="Calibri Light"/>
                <a:cs typeface="Calibri Light"/>
              </a:rPr>
              <a:t>MicrobiomeAnalyst 2.0 Overview </a:t>
            </a:r>
            <a:endParaRPr lang="en-US" sz="3100" b="1">
              <a:solidFill>
                <a:schemeClr val="tx2"/>
              </a:solidFill>
              <a:latin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04D8-6924-9063-CE06-E637CEE4D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885" y="664304"/>
            <a:ext cx="6053407" cy="5912157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Web-based platform for marker-gene microbiome analysis</a:t>
            </a:r>
            <a:endParaRPr lang="en-US">
              <a:solidFill>
                <a:schemeClr val="tx2"/>
              </a:solidFill>
              <a:latin typeface="Segoe UI"/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Accepts ASV/OTU tables + taxonomy + metadata</a:t>
            </a:r>
            <a:endParaRPr lang="en-US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Provides quality filtering, normalization, and statistical testing</a:t>
            </a:r>
            <a:endParaRPr lang="en-US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Offers rich visualization (bars, heatmaps, PCA/</a:t>
            </a:r>
            <a:r>
              <a:rPr lang="en-US" err="1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PCoA</a:t>
            </a:r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, heat trees)</a:t>
            </a:r>
            <a:endParaRPr lang="en-US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Includes diversity analysis, differential abundance, biomarker discovery</a:t>
            </a:r>
            <a:endParaRPr lang="en-US">
              <a:solidFill>
                <a:schemeClr val="tx2"/>
              </a:solidFill>
              <a:latin typeface="Segoe UI"/>
              <a:cs typeface="Segoe UI"/>
            </a:endParaRPr>
          </a:p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Efficient for nutrition/clinical microbiome datasets</a:t>
            </a:r>
            <a:endParaRPr lang="en-US">
              <a:solidFill>
                <a:schemeClr val="tx2"/>
              </a:solidFill>
              <a:latin typeface="Segoe UI"/>
              <a:cs typeface="Segoe UI"/>
            </a:endParaRPr>
          </a:p>
          <a:p>
            <a:endParaRPr lang="en-US" sz="18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65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B9042A-AC52-0BAD-706A-31DD99D2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chemeClr val="tx2"/>
                </a:solidFill>
                <a:latin typeface="Segoe UI"/>
                <a:ea typeface="Calibri Light"/>
                <a:cs typeface="Segoe UI"/>
              </a:rPr>
              <a:t>MicrobiomeAnalyst 2.0 Setup </a:t>
            </a:r>
            <a:endParaRPr lang="en-US" sz="3100" b="1">
              <a:solidFill>
                <a:schemeClr val="tx2"/>
              </a:solidFill>
              <a:latin typeface="Segoe UI"/>
              <a:cs typeface="Segoe UI"/>
            </a:endParaRP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BB50FAD6-D768-B506-B99A-919BDB6B8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674" y="804672"/>
            <a:ext cx="5993250" cy="5230368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Input files used:</a:t>
            </a:r>
            <a:br>
              <a:rPr lang="en-US">
                <a:latin typeface="Segoe UI"/>
                <a:ea typeface="+mn-lt"/>
                <a:cs typeface="+mn-lt"/>
              </a:rPr>
            </a:br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→ ASV table from NF-Core</a:t>
            </a:r>
            <a:br>
              <a:rPr lang="en-US">
                <a:latin typeface="Segoe UI"/>
                <a:ea typeface="+mn-lt"/>
                <a:cs typeface="+mn-lt"/>
              </a:rPr>
            </a:br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→ SILVA taxonomy file from NF-Core</a:t>
            </a:r>
            <a:br>
              <a:rPr lang="en-US">
                <a:latin typeface="Segoe UI"/>
                <a:ea typeface="+mn-lt"/>
                <a:cs typeface="+mn-lt"/>
              </a:rPr>
            </a:br>
            <a:r>
              <a:rPr lang="en-US">
                <a:solidFill>
                  <a:schemeClr val="tx2"/>
                </a:solidFill>
                <a:latin typeface="Segoe UI"/>
                <a:ea typeface="+mn-lt"/>
                <a:cs typeface="+mn-lt"/>
              </a:rPr>
              <a:t>→ Cleaned metadata file </a:t>
            </a:r>
            <a:endParaRPr lang="en-US">
              <a:solidFill>
                <a:schemeClr val="tx2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97750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9C620-A2EE-BF8B-40DA-D573A253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8837" y="-191484"/>
            <a:ext cx="12789675" cy="10151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MicrobiomeAnalyst</a:t>
            </a:r>
            <a:r>
              <a:rPr lang="en-US" sz="48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2.0 Outputs</a:t>
            </a:r>
            <a:r>
              <a:rPr lang="en-US" sz="4800" b="1">
                <a:solidFill>
                  <a:schemeClr val="tx2"/>
                </a:solidFill>
              </a:rPr>
              <a:t> from NF-Core</a:t>
            </a:r>
            <a:endParaRPr lang="en-US" sz="4800" b="1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FF02DD1-53EA-5E4E-B48A-79C64CBF9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6" y="1121434"/>
            <a:ext cx="2726215" cy="2707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E4223E-BF8A-327D-7B15-FDEDFD867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3907" y="3757031"/>
            <a:ext cx="3422510" cy="3098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87B7FC-7724-A3F7-4FC5-55FE67C9A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5" y="4060658"/>
            <a:ext cx="3975424" cy="2797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25FC1-77B0-1ADA-B5B8-A03FFE580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113" y="986469"/>
            <a:ext cx="4643887" cy="2613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6C8A92-A2F1-7242-610B-10440FCDA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5033" y="1391009"/>
            <a:ext cx="4156828" cy="2372265"/>
          </a:xfrm>
          <a:prstGeom prst="rect">
            <a:avLst/>
          </a:prstGeom>
        </p:spPr>
      </p:pic>
      <p:pic>
        <p:nvPicPr>
          <p:cNvPr id="16" name="Picture 15" descr="A graph showing the number of numbers&#10;&#10;AI-generated content may be incorrect.">
            <a:extLst>
              <a:ext uri="{FF2B5EF4-FFF2-40B4-BE49-F238E27FC236}">
                <a16:creationId xmlns:a16="http://schemas.microsoft.com/office/drawing/2014/main" id="{D577BC19-0BF1-CFEE-F0E8-C66C1DF2C8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947" y="4114412"/>
            <a:ext cx="4602836" cy="238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2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1802-4764-3D5F-6A2F-ABF243F0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Statistics*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4ABC8-8C7A-C318-FA79-7FFE7EA1D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Part 1 - Exploratory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03212-2EE5-ED4F-AF62-12EEFB656D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Generated alpha &amp; beta diversity metrics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Histograms &amp; boxplots</a:t>
            </a:r>
          </a:p>
          <a:p>
            <a:r>
              <a:rPr lang="en-US">
                <a:ea typeface="Calibri"/>
                <a:cs typeface="Calibri"/>
              </a:rPr>
              <a:t>Rarefaction</a:t>
            </a:r>
          </a:p>
          <a:p>
            <a:r>
              <a:rPr lang="en-US">
                <a:ea typeface="Calibri"/>
                <a:cs typeface="Calibri"/>
              </a:rPr>
              <a:t>Correlation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69847-B0F6-4143-F98F-219F54322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Part 2 – Model building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C2DD8-02D9-9D9B-FF4D-E73E75CA1B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Canonical correspondence analysis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ANOVA</a:t>
            </a:r>
          </a:p>
          <a:p>
            <a:r>
              <a:rPr lang="en-US">
                <a:ea typeface="Calibri"/>
                <a:cs typeface="Calibri"/>
              </a:rPr>
              <a:t>Generalized Linear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Calibri"/>
                <a:cs typeface="Calibri"/>
              </a:rPr>
              <a:t>(Multiple Linear Regression)</a:t>
            </a:r>
            <a:endParaRPr lang="en-US" sz="28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32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3928-9BC0-851B-DBDA-43021C97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Alpha diversity indices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323C44-BFC7-459E-96ED-6C48ED43BA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2213953"/>
            <a:ext cx="6083300" cy="3142882"/>
          </a:xfrm>
          <a:prstGeom prst="rect">
            <a:avLst/>
          </a:prstGeom>
        </p:spPr>
      </p:pic>
      <p:pic>
        <p:nvPicPr>
          <p:cNvPr id="6" name="Content Placeholder 5" descr="A group of colored squares&#10;&#10;AI-generated content may be incorrect.">
            <a:extLst>
              <a:ext uri="{FF2B5EF4-FFF2-40B4-BE49-F238E27FC236}">
                <a16:creationId xmlns:a16="http://schemas.microsoft.com/office/drawing/2014/main" id="{AFB523E7-38A6-F3B5-DF48-39EA0B269B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08700" y="2211250"/>
            <a:ext cx="6083300" cy="314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2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461C-3C13-B9B3-8843-EE6D4DBB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Beta diversity indices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856D88-B3CD-2457-9FC2-6FCBA59FFA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6828" y="2320019"/>
            <a:ext cx="5837274" cy="3043573"/>
          </a:xfrm>
          <a:prstGeom prst="rect">
            <a:avLst/>
          </a:prstGeom>
        </p:spPr>
      </p:pic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8495D1E9-0637-9303-765D-9A744AC729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27898" y="2195261"/>
            <a:ext cx="6076506" cy="316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3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7FF6-7CD0-C60B-82BD-A0A16D87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Calibri Light"/>
                <a:cs typeface="Calibri Light"/>
              </a:rPr>
              <a:t>Rarefation</a:t>
            </a:r>
            <a:endParaRPr lang="en-US" err="1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15573E-4535-A5A4-5323-0B68F2CE0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3427" y="1349376"/>
            <a:ext cx="10517583" cy="550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72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E88F-3F8E-1CC6-F6D9-5C400420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Correlation</a:t>
            </a:r>
            <a:endParaRPr lang="en-US"/>
          </a:p>
        </p:txBody>
      </p:sp>
      <p:pic>
        <p:nvPicPr>
          <p:cNvPr id="8" name="Content Placeholder 7" descr="A grid with blue and orange dots&#10;&#10;AI-generated content may be incorrect.">
            <a:extLst>
              <a:ext uri="{FF2B5EF4-FFF2-40B4-BE49-F238E27FC236}">
                <a16:creationId xmlns:a16="http://schemas.microsoft.com/office/drawing/2014/main" id="{84A18368-1CDB-69C5-1D62-DC5540586E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06891" y="1825625"/>
            <a:ext cx="5769467" cy="50419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FEE3FD-0071-412A-8516-605C56B0A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Relationship between 2 variables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3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E1BA-43A2-C447-A597-736DE39D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Canonical Correspondence Analysis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B2F00E-B31E-5307-0466-43FE8BA7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232442"/>
              </p:ext>
            </p:extLst>
          </p:nvPr>
        </p:nvGraphicFramePr>
        <p:xfrm>
          <a:off x="833437" y="1928812"/>
          <a:ext cx="3290404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90404">
                  <a:extLst>
                    <a:ext uri="{9D8B030D-6E8A-4147-A177-3AD203B41FA5}">
                      <a16:colId xmlns:a16="http://schemas.microsoft.com/office/drawing/2014/main" val="209823763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Partitioning of scaled Chi-square: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8299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                            Inertia   Proportion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698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Total                   13.862           1.000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792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Constrained        4.644           0.335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63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Unconstrained    9.218           0.665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32956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11F5755-0C3E-8859-E42B-EEF79E10A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03" y="3430551"/>
            <a:ext cx="109632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39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0378-3F7D-81C3-4701-54EB9DEE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CCA cont.</a:t>
            </a:r>
            <a:endParaRPr lang="en-US"/>
          </a:p>
        </p:txBody>
      </p:sp>
      <p:pic>
        <p:nvPicPr>
          <p:cNvPr id="4" name="Content Placeholder 3" descr="A diagram of a group of microbials&#10;&#10;AI-generated content may be incorrect.">
            <a:extLst>
              <a:ext uri="{FF2B5EF4-FFF2-40B4-BE49-F238E27FC236}">
                <a16:creationId xmlns:a16="http://schemas.microsoft.com/office/drawing/2014/main" id="{EAEDBC4C-40DF-1FBB-EC3D-A6BEAF07C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36774" y="1361282"/>
            <a:ext cx="9709199" cy="557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2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D33D1-70E6-CCE1-E7E2-6600A268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Overall model significance</a:t>
            </a:r>
            <a:endParaRPr lang="en-US"/>
          </a:p>
        </p:txBody>
      </p:sp>
      <p:pic>
        <p:nvPicPr>
          <p:cNvPr id="4" name="Content Placeholder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443B6CE-BC2E-3F2E-EF97-FBE893F92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34236"/>
            <a:ext cx="10515600" cy="18380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8BFFAB-0970-5CED-EE93-716319EDCD01}"/>
              </a:ext>
            </a:extLst>
          </p:cNvPr>
          <p:cNvSpPr/>
          <p:nvPr/>
        </p:nvSpPr>
        <p:spPr>
          <a:xfrm>
            <a:off x="3078222" y="2808480"/>
            <a:ext cx="555349" cy="269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10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6D57-BCF4-7312-1BFC-E4933205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Individual term significance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96209B-826A-17B8-DC47-5DF1EBBED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908" y="1497788"/>
            <a:ext cx="8526113" cy="53614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9632FC-7952-7724-C9DD-E6FD2F2B0A65}"/>
              </a:ext>
            </a:extLst>
          </p:cNvPr>
          <p:cNvSpPr/>
          <p:nvPr/>
        </p:nvSpPr>
        <p:spPr>
          <a:xfrm>
            <a:off x="4070594" y="4509689"/>
            <a:ext cx="378140" cy="207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318D11-E55F-7924-4310-D6B1A1869451}"/>
              </a:ext>
            </a:extLst>
          </p:cNvPr>
          <p:cNvSpPr/>
          <p:nvPr/>
        </p:nvSpPr>
        <p:spPr>
          <a:xfrm>
            <a:off x="4088314" y="5785596"/>
            <a:ext cx="378140" cy="207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22B40-8ADC-1275-2FA9-63A13B4D8BA6}"/>
              </a:ext>
            </a:extLst>
          </p:cNvPr>
          <p:cNvSpPr/>
          <p:nvPr/>
        </p:nvSpPr>
        <p:spPr>
          <a:xfrm>
            <a:off x="4088315" y="5998247"/>
            <a:ext cx="378140" cy="207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4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993D-9E67-238F-42EE-0FCF33C1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Maaslin3 summaries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E9BE1-B913-DAB7-CACD-56F65883F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General model</a:t>
            </a:r>
            <a:endParaRPr lang="en-US"/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CA66F45-11A1-9731-3F19-7BCD20F012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5645" y="2505075"/>
            <a:ext cx="5488376" cy="424279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4A074-E27E-7F90-67AB-48A4BF584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Yogurt groups</a:t>
            </a: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3ADAF1B7-8A6F-E310-E831-216E7071A99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27898" y="2543061"/>
            <a:ext cx="6069234" cy="421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 resources slide 10</a:t>
            </a:r>
          </a:p>
        </p:txBody>
      </p:sp>
      <p:grpSp>
        <p:nvGrpSpPr>
          <p:cNvPr id="5" name="Group 4" descr="This image is an icon of three human beings. ">
            <a:extLst>
              <a:ext uri="{FF2B5EF4-FFF2-40B4-BE49-F238E27FC236}">
                <a16:creationId xmlns:a16="http://schemas.microsoft.com/office/drawing/2014/main" id="{5D1C056A-1D7A-4D89-A2E0-446D9944C6FB}"/>
              </a:ext>
            </a:extLst>
          </p:cNvPr>
          <p:cNvGrpSpPr/>
          <p:nvPr/>
        </p:nvGrpSpPr>
        <p:grpSpPr>
          <a:xfrm>
            <a:off x="791651" y="3549996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6" name="Freeform 35">
              <a:extLst>
                <a:ext uri="{FF2B5EF4-FFF2-40B4-BE49-F238E27FC236}">
                  <a16:creationId xmlns:a16="http://schemas.microsoft.com/office/drawing/2014/main" id="{C9FAB44B-F1A9-406C-8DC0-7BC29AA64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7" name="Freeform 36">
              <a:extLst>
                <a:ext uri="{FF2B5EF4-FFF2-40B4-BE49-F238E27FC236}">
                  <a16:creationId xmlns:a16="http://schemas.microsoft.com/office/drawing/2014/main" id="{12B0F9D4-64CB-42CD-88AA-7E8CAD1F1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8" name="Freeform 37">
              <a:extLst>
                <a:ext uri="{FF2B5EF4-FFF2-40B4-BE49-F238E27FC236}">
                  <a16:creationId xmlns:a16="http://schemas.microsoft.com/office/drawing/2014/main" id="{0FD5A500-BBCF-4857-86E7-EBF5AA53D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9" name="Freeform 38">
              <a:extLst>
                <a:ext uri="{FF2B5EF4-FFF2-40B4-BE49-F238E27FC236}">
                  <a16:creationId xmlns:a16="http://schemas.microsoft.com/office/drawing/2014/main" id="{443598C0-BD9C-4522-87F3-C9C8F628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10" name="Freeform 39">
              <a:extLst>
                <a:ext uri="{FF2B5EF4-FFF2-40B4-BE49-F238E27FC236}">
                  <a16:creationId xmlns:a16="http://schemas.microsoft.com/office/drawing/2014/main" id="{426B4897-8470-4A76-9FA9-4E7CD62BF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11" name="Freeform 40">
              <a:extLst>
                <a:ext uri="{FF2B5EF4-FFF2-40B4-BE49-F238E27FC236}">
                  <a16:creationId xmlns:a16="http://schemas.microsoft.com/office/drawing/2014/main" id="{08884941-111D-4BB6-BD63-1DA532A1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12" name="Freeform 41">
              <a:extLst>
                <a:ext uri="{FF2B5EF4-FFF2-40B4-BE49-F238E27FC236}">
                  <a16:creationId xmlns:a16="http://schemas.microsoft.com/office/drawing/2014/main" id="{0E89D6C0-E5F8-47FF-8190-4361ED777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13" name="Freeform 42">
              <a:extLst>
                <a:ext uri="{FF2B5EF4-FFF2-40B4-BE49-F238E27FC236}">
                  <a16:creationId xmlns:a16="http://schemas.microsoft.com/office/drawing/2014/main" id="{F2B683ED-11A9-4ED1-A941-C7F0C509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sp>
          <p:nvSpPr>
            <p:cNvPr id="14" name="Freeform 43">
              <a:extLst>
                <a:ext uri="{FF2B5EF4-FFF2-40B4-BE49-F238E27FC236}">
                  <a16:creationId xmlns:a16="http://schemas.microsoft.com/office/drawing/2014/main" id="{5F24A4C5-7DDA-4711-B85E-9A4348702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733192" y="4331033"/>
            <a:ext cx="484570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4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74FAF-1757-48A8-BBFB-722E8E1D6FA4}"/>
              </a:ext>
            </a:extLst>
          </p:cNvPr>
          <p:cNvSpPr/>
          <p:nvPr/>
        </p:nvSpPr>
        <p:spPr>
          <a:xfrm>
            <a:off x="733192" y="5358396"/>
            <a:ext cx="353619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endParaRPr lang="en-US" sz="1600">
              <a:solidFill>
                <a:srgbClr val="000000"/>
              </a:solidFill>
              <a:latin typeface="+mj-lt"/>
              <a:ea typeface="Calibri Light"/>
              <a:cs typeface="Calibri Light"/>
            </a:endParaRPr>
          </a:p>
        </p:txBody>
      </p:sp>
      <p:grpSp>
        <p:nvGrpSpPr>
          <p:cNvPr id="23" name="Group 22" descr="This image is of an abstract shap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CA4BDF-ECBC-4F8E-8F31-E58428FA4B7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24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Human resources slide 1</vt:lpstr>
      <vt:lpstr>Human resources slide 3</vt:lpstr>
      <vt:lpstr>Background </vt:lpstr>
      <vt:lpstr>Purpose</vt:lpstr>
      <vt:lpstr>Human resources slide 8</vt:lpstr>
      <vt:lpstr>Diversity Metrics</vt:lpstr>
      <vt:lpstr>Alpha Rarefaction</vt:lpstr>
      <vt:lpstr>NFCore Ampliseq</vt:lpstr>
      <vt:lpstr>Setting Up Environment</vt:lpstr>
      <vt:lpstr>Configuring Dataset</vt:lpstr>
      <vt:lpstr>MicrobiomeAnalyst 2.0 Overview </vt:lpstr>
      <vt:lpstr>MicrobiomeAnalyst 2.0 Setup </vt:lpstr>
      <vt:lpstr>MicrobiomeAnalyst 2.0 Outputs from NF-Core</vt:lpstr>
      <vt:lpstr>Statistics*</vt:lpstr>
      <vt:lpstr>Alpha diversity indices</vt:lpstr>
      <vt:lpstr>Beta diversity indices</vt:lpstr>
      <vt:lpstr>Rarefation</vt:lpstr>
      <vt:lpstr>Correlation</vt:lpstr>
      <vt:lpstr>Canonical Correspondence Analysis</vt:lpstr>
      <vt:lpstr>CCA cont.</vt:lpstr>
      <vt:lpstr>Overall model significance</vt:lpstr>
      <vt:lpstr>Individual term significance</vt:lpstr>
      <vt:lpstr>Maaslin3 summaries</vt:lpstr>
      <vt:lpstr>Human resources slide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2025-12-01T17:56:16Z</dcterms:created>
  <dcterms:modified xsi:type="dcterms:W3CDTF">2025-12-11T02:31:50Z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