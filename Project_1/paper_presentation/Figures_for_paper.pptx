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6BFF-4A08-4233-87B1-FB7C61D99DF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2B108-B917-4B0E-A24E-19E08717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1. Alpha rarefaction plot by group from QIIME2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50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2: Alpha diversity metrics from MicrobiomeAnalyst2.0. A) Chao1 plot, B) Chao1 boxplot, C) Shannon plot, D) Shannon boxplot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38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3. Principal Coordinates Analysis 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59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4. A) Rarefaction Curves by Sample (NF-Core QIIME2 Pipeline), B) Rarefaction Curves by Sample (QIIME2 Pipeline)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94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5. Shannon diversity index histograms. A) NF-Core, B) QIIME2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30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6. Shannon diversity index boxplots. A) NF-Core, B) QIIME2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41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7. Simpson diversity index histograms. A) NF-Core, B) QIIME2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21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8. Simpson diversity index boxplots. A) NF-Core, B) QIIME2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6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9. Bray Dissimilarity Index histograms. A) NF-Core, B) QIIME2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66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10. Bray Dissimilarity Index boxplots. A) NF-Core, B) QIIME2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3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10. Gower Dissimilarity Index histograms. A) NF-Core, B) QIIME2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0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12. Gower Dissimilarity Index boxplots. A) NF-Core, B) QIIME2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4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13. Correlation matrix of clinical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7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1. Comparison of Canonical Correspondence Analysis Model </a:t>
            </a:r>
            <a:r>
              <a:rPr lang="en-US" dirty="0" err="1"/>
              <a:t>Statstics</a:t>
            </a:r>
            <a:r>
              <a:rPr lang="en-US" dirty="0"/>
              <a:t> 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89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2: Eigenvalues and Cumulative Proportion of Constrained Variance Explained by Canonical Axes (CCA1–CCA12)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0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14. Canonical Correspondence Analysis (CCA) Biplot of Microbial Community Constrained by Clinical Factors (NF-Core QIIME2)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93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Figure 15. Canonical Correspondence Analysis (CCA) Biplot of Microbial Community Constrained by Clinical Factors (QIIME2)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2B108-B917-4B0E-A24E-19E0871730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53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1348-7390-0904-D1B4-7E9A3113D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36D0E-B46D-5C65-1B1C-BC9A9D1AA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697C-3152-EAF8-B35B-57CE1A4F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D93CE-B542-F4A3-ACAA-0C28A753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FBE5C-FF72-6A0E-AAB5-97E25F3E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3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259B-5A17-A482-C68E-19E5B104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E996-A26F-AAC2-5EB3-EE53594C9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1DF0-3441-1A58-8001-11F3DE2A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AE1BC-DF83-AE06-1E3D-F150F3C7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9C08B-2D32-D7D7-8C22-95DBC315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8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9067-6BA7-4E96-6179-94E9F50A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5FAA0-4DC8-1373-B322-6545431D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8542A-F7A2-62B5-5BD7-CC79E3478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4F9A1-C2DA-8BA2-948B-5AC548A4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BB327-0BBE-5919-6DB7-2F9ABC9E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2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EA30-B271-6004-FAB2-524B83CC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F9C0-15E9-D40C-0DC4-36FC2FF8D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23F83-1A67-E589-242B-4190FE163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D684-B4EB-1883-53D3-7CD2995E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91586-3731-CB9D-04AA-51377C8B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AF2CE-8B76-ED12-93F4-7D8F99D2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1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4307-F852-46A6-EA27-B674CF03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C5201-22CA-A898-4550-B95AD4B0A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FED3-1E08-4446-D9AB-42091EDF2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76125-2C7A-DF9E-9DBD-F36077451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515C1-DB2F-DB70-F49F-083600435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C5182-687D-6671-C417-8705451A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06E79-5D32-ABF5-5BB3-1F822176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9330F-F9D0-3161-C270-A6D5C609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4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193F-9B58-5947-97EB-B6B343D9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6F8B5-B2C7-B87E-CF51-0051715A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7FC72-6D61-B3A0-A896-F9097BA8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A1D5D-1AB7-0172-FB8D-055BA25A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0ED0C-99D9-1F67-1527-08E40F24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1979B-E0D8-C4BB-1634-87273DA3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86938-4946-A887-4D48-BC93BEE8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DFD2-688B-66B1-9DC3-D203A60B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2DB2-4A9B-C282-DA1A-CA820E8F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46983-B577-C875-745A-8DB0FD1D6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13711-B91C-9698-2BA9-3ED2D703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D9848-E8E1-E47C-86AB-F1C1CDC9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F748B-12B9-2536-043C-137E5799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8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B550-CAD3-E67C-E12A-3896F0C4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8F68-77A3-B6F1-2873-F5457A797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9A89B-5412-F53A-9D8E-2B91BC2D3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152CC-BF1A-9010-6F4A-FA5ABE99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58287-2558-F03D-A55F-65D9D27E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C3CE9-BBD0-3D3E-69FD-F8650965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780A-3453-71FF-D927-709EE937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AB02F-4ACA-4CB0-9593-097469F25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A481-479D-91B0-2BA6-4D2A985E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133E1-AB6E-4660-1EF9-29D8409A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0EBDF-5327-D074-8DCA-8CF40D48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6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DF736-79F3-CB55-89A9-1440A58A8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003A1-DDC1-741F-C1CC-7355F0DCF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BCA2-EE94-25CA-0CD2-C18A5063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A754C-5158-AEE7-9411-EE0C5A81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C34EC-801A-4BEC-14A3-8FB7311D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7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03B0F-308D-8647-3380-4B8602BC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C9717-0071-012C-7915-B427DD75C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23529-83EF-CA55-23EC-A6A311BA6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60A9C-5971-4E68-B7CB-03DA34807E0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CABDD-0311-0018-E072-9FBE0316A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B459-1082-5D04-BC56-5C53876C6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804B1-6B8E-42D2-8C2B-DF353D0F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5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lorful lines on a white background&#10;&#10;AI-generated content may be incorrect.">
            <a:extLst>
              <a:ext uri="{FF2B5EF4-FFF2-40B4-BE49-F238E27FC236}">
                <a16:creationId xmlns:a16="http://schemas.microsoft.com/office/drawing/2014/main" id="{EF8B5F6D-1F2F-1361-E858-5D3557DBA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42" y="1493520"/>
            <a:ext cx="12095190" cy="443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9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662239-65A1-7837-8744-3DE8D1892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949221" cy="314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786D60-7812-CC9F-63CF-5949400EC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221" y="0"/>
            <a:ext cx="6242779" cy="3501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D7E90-5DD2-2487-57F1-834FF45F3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106361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9004BC-BAEE-85EA-8C34-44F79E80B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639" y="3429000"/>
            <a:ext cx="6106361" cy="342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FE643A-916B-586A-8FED-284714CB5791}"/>
              </a:ext>
            </a:extLst>
          </p:cNvPr>
          <p:cNvSpPr txBox="1"/>
          <p:nvPr/>
        </p:nvSpPr>
        <p:spPr>
          <a:xfrm>
            <a:off x="11364702" y="3501337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B1EED-D080-3460-F109-E307A8A69A2F}"/>
              </a:ext>
            </a:extLst>
          </p:cNvPr>
          <p:cNvSpPr txBox="1"/>
          <p:nvPr/>
        </p:nvSpPr>
        <p:spPr>
          <a:xfrm>
            <a:off x="5382530" y="49014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9D744-0105-4BB1-E802-C6239AD5880A}"/>
              </a:ext>
            </a:extLst>
          </p:cNvPr>
          <p:cNvSpPr txBox="1"/>
          <p:nvPr/>
        </p:nvSpPr>
        <p:spPr>
          <a:xfrm>
            <a:off x="5431061" y="3361141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D9360-3948-C3D2-CDF7-53BA900B142F}"/>
              </a:ext>
            </a:extLst>
          </p:cNvPr>
          <p:cNvSpPr txBox="1"/>
          <p:nvPr/>
        </p:nvSpPr>
        <p:spPr>
          <a:xfrm>
            <a:off x="11725721" y="-27162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8294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B99235A-B5C6-85E5-E714-5232A34EE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1680" y="0"/>
            <a:ext cx="9863021" cy="68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2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3067A055-FA6A-167A-35E5-AD93D52FDB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4438"/>
            <a:ext cx="6019800" cy="3488035"/>
          </a:xfrm>
        </p:spPr>
      </p:pic>
      <p:pic>
        <p:nvPicPr>
          <p:cNvPr id="8" name="Content Placeholder 7" descr="A screen shot of a graph&#10;&#10;AI-generated content may be incorrect.">
            <a:extLst>
              <a:ext uri="{FF2B5EF4-FFF2-40B4-BE49-F238E27FC236}">
                <a16:creationId xmlns:a16="http://schemas.microsoft.com/office/drawing/2014/main" id="{5EC93F4C-86EC-D870-AC83-BF673001C8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113280"/>
            <a:ext cx="5849215" cy="338919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90B076-0D6F-189D-7614-1F0A782CCEE0}"/>
              </a:ext>
            </a:extLst>
          </p:cNvPr>
          <p:cNvSpPr txBox="1"/>
          <p:nvPr/>
        </p:nvSpPr>
        <p:spPr>
          <a:xfrm>
            <a:off x="5429183" y="2014438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C315F-94D9-726F-5454-FC91A4845EFE}"/>
              </a:ext>
            </a:extLst>
          </p:cNvPr>
          <p:cNvSpPr txBox="1"/>
          <p:nvPr/>
        </p:nvSpPr>
        <p:spPr>
          <a:xfrm>
            <a:off x="11675974" y="2014438"/>
            <a:ext cx="34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578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3E162125-1CA7-429B-3DF8-1860D1473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47" y="0"/>
            <a:ext cx="11835830" cy="6858000"/>
          </a:xfrm>
        </p:spPr>
      </p:pic>
    </p:spTree>
    <p:extLst>
      <p:ext uri="{BB962C8B-B14F-4D97-AF65-F5344CB8AC3E}">
        <p14:creationId xmlns:p14="http://schemas.microsoft.com/office/powerpoint/2010/main" val="94414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F71AEA3F-B85B-F4FD-32C2-9E5A3E2E5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0" y="74645"/>
            <a:ext cx="11707004" cy="6783355"/>
          </a:xfrm>
        </p:spPr>
      </p:pic>
    </p:spTree>
    <p:extLst>
      <p:ext uri="{BB962C8B-B14F-4D97-AF65-F5344CB8AC3E}">
        <p14:creationId xmlns:p14="http://schemas.microsoft.com/office/powerpoint/2010/main" val="283489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different sizes&#10;&#10;AI-generated content may be incorrect.">
            <a:extLst>
              <a:ext uri="{FF2B5EF4-FFF2-40B4-BE49-F238E27FC236}">
                <a16:creationId xmlns:a16="http://schemas.microsoft.com/office/drawing/2014/main" id="{10321DB0-7447-CAAF-50DC-12CE50910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06" y="104193"/>
            <a:ext cx="11476188" cy="6649614"/>
          </a:xfrm>
        </p:spPr>
      </p:pic>
    </p:spTree>
    <p:extLst>
      <p:ext uri="{BB962C8B-B14F-4D97-AF65-F5344CB8AC3E}">
        <p14:creationId xmlns:p14="http://schemas.microsoft.com/office/powerpoint/2010/main" val="78338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490EE87A-0CC6-46B0-F936-B76275D8E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62" y="0"/>
            <a:ext cx="11835830" cy="6858000"/>
          </a:xfrm>
        </p:spPr>
      </p:pic>
    </p:spTree>
    <p:extLst>
      <p:ext uri="{BB962C8B-B14F-4D97-AF65-F5344CB8AC3E}">
        <p14:creationId xmlns:p14="http://schemas.microsoft.com/office/powerpoint/2010/main" val="220832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tall tower&#10;&#10;AI-generated content may be incorrect.">
            <a:extLst>
              <a:ext uri="{FF2B5EF4-FFF2-40B4-BE49-F238E27FC236}">
                <a16:creationId xmlns:a16="http://schemas.microsoft.com/office/drawing/2014/main" id="{4192511D-F146-E459-0256-FAD4BE436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6" y="0"/>
            <a:ext cx="11829055" cy="6854075"/>
          </a:xfrm>
        </p:spPr>
      </p:pic>
    </p:spTree>
    <p:extLst>
      <p:ext uri="{BB962C8B-B14F-4D97-AF65-F5344CB8AC3E}">
        <p14:creationId xmlns:p14="http://schemas.microsoft.com/office/powerpoint/2010/main" val="191837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0739BCFF-59ED-9EFD-E7DE-1A509DBFB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" y="-14480"/>
            <a:ext cx="11860817" cy="6872479"/>
          </a:xfrm>
        </p:spPr>
      </p:pic>
    </p:spTree>
    <p:extLst>
      <p:ext uri="{BB962C8B-B14F-4D97-AF65-F5344CB8AC3E}">
        <p14:creationId xmlns:p14="http://schemas.microsoft.com/office/powerpoint/2010/main" val="4169620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 showing a number of different sizes with Willis Tower in the background&#10;&#10;AI-generated content may be incorrect.">
            <a:extLst>
              <a:ext uri="{FF2B5EF4-FFF2-40B4-BE49-F238E27FC236}">
                <a16:creationId xmlns:a16="http://schemas.microsoft.com/office/drawing/2014/main" id="{0DAE6B6A-EF75-6840-92E6-DADECBD85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" y="0"/>
            <a:ext cx="11835830" cy="6858000"/>
          </a:xfrm>
        </p:spPr>
      </p:pic>
    </p:spTree>
    <p:extLst>
      <p:ext uri="{BB962C8B-B14F-4D97-AF65-F5344CB8AC3E}">
        <p14:creationId xmlns:p14="http://schemas.microsoft.com/office/powerpoint/2010/main" val="297377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a graph&#10;&#10;AI-generated content may be incorrect.">
            <a:extLst>
              <a:ext uri="{FF2B5EF4-FFF2-40B4-BE49-F238E27FC236}">
                <a16:creationId xmlns:a16="http://schemas.microsoft.com/office/drawing/2014/main" id="{91AB05D4-4AC2-9D4B-DCC4-F9643059C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2" y="19704"/>
            <a:ext cx="11801823" cy="6838296"/>
          </a:xfrm>
        </p:spPr>
      </p:pic>
    </p:spTree>
    <p:extLst>
      <p:ext uri="{BB962C8B-B14F-4D97-AF65-F5344CB8AC3E}">
        <p14:creationId xmlns:p14="http://schemas.microsoft.com/office/powerpoint/2010/main" val="218487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with dots and numbers&#10;&#10;AI-generated content may be incorrect.">
            <a:extLst>
              <a:ext uri="{FF2B5EF4-FFF2-40B4-BE49-F238E27FC236}">
                <a16:creationId xmlns:a16="http://schemas.microsoft.com/office/drawing/2014/main" id="{F514B96D-0092-3783-AC02-69FD8D8AC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" y="-1524"/>
            <a:ext cx="11838460" cy="6859524"/>
          </a:xfrm>
        </p:spPr>
      </p:pic>
    </p:spTree>
    <p:extLst>
      <p:ext uri="{BB962C8B-B14F-4D97-AF65-F5344CB8AC3E}">
        <p14:creationId xmlns:p14="http://schemas.microsoft.com/office/powerpoint/2010/main" val="2853928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1690803-2D76-686A-B349-C07E1B69BA9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70156929"/>
                  </p:ext>
                </p:extLst>
              </p:nvPr>
            </p:nvGraphicFramePr>
            <p:xfrm>
              <a:off x="838200" y="1825625"/>
              <a:ext cx="105156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90622202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2103957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9478352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NF-Core QIIME2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QIIME2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79319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Inertia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13.826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13.577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884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Constrained Inertia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86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Proportion Explained (Constrained)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33.72%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3116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1690803-2D76-686A-B349-C07E1B69BA9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70156929"/>
                  </p:ext>
                </p:extLst>
              </p:nvPr>
            </p:nvGraphicFramePr>
            <p:xfrm>
              <a:off x="838200" y="1825625"/>
              <a:ext cx="105156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90622202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2103957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9478352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NF-Core QIIME2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QIIME2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79319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06557" r="-100463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13.826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13.577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884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Constrained Inertia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86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Proportion Explained (Constrained)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33.72%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31163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3154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685150-52EC-A85D-C34D-1363BC950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258918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4497334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1205809677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257065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Axis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NF-Core Eigenvalue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QIIME2 Eigenvalue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8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CCA1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292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CCA2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2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92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oup of microbial groups&#10;&#10;AI-generated content may be incorrect.">
            <a:extLst>
              <a:ext uri="{FF2B5EF4-FFF2-40B4-BE49-F238E27FC236}">
                <a16:creationId xmlns:a16="http://schemas.microsoft.com/office/drawing/2014/main" id="{7BB5B615-D0B9-84A7-FCCD-2BF776EFB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" y="0"/>
            <a:ext cx="11835830" cy="6858000"/>
          </a:xfrm>
        </p:spPr>
      </p:pic>
    </p:spTree>
    <p:extLst>
      <p:ext uri="{BB962C8B-B14F-4D97-AF65-F5344CB8AC3E}">
        <p14:creationId xmlns:p14="http://schemas.microsoft.com/office/powerpoint/2010/main" val="2601507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oup of microbial groups&#10;&#10;AI-generated content may be incorrect.">
            <a:extLst>
              <a:ext uri="{FF2B5EF4-FFF2-40B4-BE49-F238E27FC236}">
                <a16:creationId xmlns:a16="http://schemas.microsoft.com/office/drawing/2014/main" id="{8D5C0612-BA3E-30D6-A597-B5846363E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" y="0"/>
            <a:ext cx="11835830" cy="6858000"/>
          </a:xfrm>
        </p:spPr>
      </p:pic>
    </p:spTree>
    <p:extLst>
      <p:ext uri="{BB962C8B-B14F-4D97-AF65-F5344CB8AC3E}">
        <p14:creationId xmlns:p14="http://schemas.microsoft.com/office/powerpoint/2010/main" val="305677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325</Words>
  <Application>Microsoft Office PowerPoint</Application>
  <PresentationFormat>Widescreen</PresentationFormat>
  <Paragraphs>60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Reid,Andrew</dc:creator>
  <cp:lastModifiedBy>Drew R</cp:lastModifiedBy>
  <cp:revision>1</cp:revision>
  <dcterms:created xsi:type="dcterms:W3CDTF">2025-12-10T20:48:03Z</dcterms:created>
  <dcterms:modified xsi:type="dcterms:W3CDTF">2025-12-11T02:31:10Z</dcterms:modified>
</cp:coreProperties>
</file>